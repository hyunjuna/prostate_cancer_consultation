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614" r:id="rId3"/>
    <p:sldId id="297" r:id="rId4"/>
    <p:sldId id="267" r:id="rId5"/>
    <p:sldId id="266" r:id="rId6"/>
    <p:sldId id="615" r:id="rId7"/>
    <p:sldId id="298" r:id="rId8"/>
    <p:sldId id="616" r:id="rId9"/>
    <p:sldId id="296" r:id="rId10"/>
    <p:sldId id="272" r:id="rId11"/>
    <p:sldId id="270" r:id="rId12"/>
    <p:sldId id="264" r:id="rId13"/>
    <p:sldId id="263" r:id="rId14"/>
    <p:sldId id="265" r:id="rId15"/>
    <p:sldId id="61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4626"/>
  </p:normalViewPr>
  <p:slideViewPr>
    <p:cSldViewPr snapToGrid="0">
      <p:cViewPr>
        <p:scale>
          <a:sx n="116" d="100"/>
          <a:sy n="116" d="100"/>
        </p:scale>
        <p:origin x="2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AAF2D2-D9A1-9949-9DCC-AED9615F5EED}" type="datetimeFigureOut">
              <a:rPr lang="en-US" smtClean="0"/>
              <a:t>9/4/25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EC2BC6-A426-9340-9A2D-A721BD02EAEF}" type="slidenum">
              <a:rPr lang="en-US" smtClean="0"/>
              <a:t>‹#›</a:t>
            </a:fld>
            <a:endParaRPr lang="en-US"/>
          </a:p>
        </p:txBody>
      </p:sp>
    </p:spTree>
    <p:extLst>
      <p:ext uri="{BB962C8B-B14F-4D97-AF65-F5344CB8AC3E}">
        <p14:creationId xmlns:p14="http://schemas.microsoft.com/office/powerpoint/2010/main" val="17472551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C99DE-2D35-5148-CE48-AC2BD9B62B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2C1D37-1053-3D06-4AF2-67E5B6586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1535297-2461-4335-4F3E-C824254AF2B7}"/>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5" name="Footer Placeholder 4">
            <a:extLst>
              <a:ext uri="{FF2B5EF4-FFF2-40B4-BE49-F238E27FC236}">
                <a16:creationId xmlns:a16="http://schemas.microsoft.com/office/drawing/2014/main" id="{47E5FB9D-D933-5FB6-C303-860AC7FB6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D90E2E-6059-E6DB-94F9-1A165B98065E}"/>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4154603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25068-C73E-4EE1-D4C4-35D9A8B576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6CBD9E-DBDB-EAF9-6276-665F171757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8B09D-B1C1-22C1-D751-13C9BC21CE3D}"/>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5" name="Footer Placeholder 4">
            <a:extLst>
              <a:ext uri="{FF2B5EF4-FFF2-40B4-BE49-F238E27FC236}">
                <a16:creationId xmlns:a16="http://schemas.microsoft.com/office/drawing/2014/main" id="{DE9FDC14-3F31-4A75-8FC4-1A487080AB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7BE952-F0DC-7D89-1D00-B77DAA98619A}"/>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3656352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166BD-3B0D-3B8F-0A02-24CBE11F3C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30B150-B993-B184-D7B5-8F3285B5D81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707847-3F01-76F1-BD20-BF3041E32D90}"/>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5" name="Footer Placeholder 4">
            <a:extLst>
              <a:ext uri="{FF2B5EF4-FFF2-40B4-BE49-F238E27FC236}">
                <a16:creationId xmlns:a16="http://schemas.microsoft.com/office/drawing/2014/main" id="{2504C25C-31E9-F2D9-9F5D-AC36AA83F8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58E3AE-3E57-543A-DEC5-9AC831EC5A57}"/>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3779062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AD23-BA17-C4F3-E6B1-D71474DBA6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6D6837-9A75-D7E3-3B40-130A4638B8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E5CC86-8287-E5F0-29FC-CEDDC03894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FBC4768-BA0E-3E61-88E6-F970E3B44489}"/>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6" name="Footer Placeholder 5">
            <a:extLst>
              <a:ext uri="{FF2B5EF4-FFF2-40B4-BE49-F238E27FC236}">
                <a16:creationId xmlns:a16="http://schemas.microsoft.com/office/drawing/2014/main" id="{3297E268-ADE3-0EF1-09F6-6CF3694D7F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EEDF55-2EDE-D225-907D-7CD5E16E64FA}"/>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339666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F3A4-74D6-C8FF-DD35-526461D5162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C1741F-5092-4AEC-A810-6D312D548A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401BDB-7B94-6D7C-F045-EA0B508ED2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3048A7A-37F2-8960-2AC4-47441A9C7F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F6243C-EA2C-ED32-16DE-D792D662FD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C80AFE-B911-A1C0-5901-51D3AE7C8C93}"/>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8" name="Footer Placeholder 7">
            <a:extLst>
              <a:ext uri="{FF2B5EF4-FFF2-40B4-BE49-F238E27FC236}">
                <a16:creationId xmlns:a16="http://schemas.microsoft.com/office/drawing/2014/main" id="{5CC91500-B9C5-7683-0882-402582A748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4470C0-AFB1-1665-83B7-1676F453BF1E}"/>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4254758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0560-910F-F582-787C-9D9BF241FE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1E2F4B-4485-D28A-FDBD-3999F69A3D0C}"/>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4" name="Footer Placeholder 3">
            <a:extLst>
              <a:ext uri="{FF2B5EF4-FFF2-40B4-BE49-F238E27FC236}">
                <a16:creationId xmlns:a16="http://schemas.microsoft.com/office/drawing/2014/main" id="{7E248D3A-975C-F8DD-334A-0F930D247C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D15913-E241-6FF4-E14B-E94C33CA5B75}"/>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2133478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B3D56-B8A0-6C30-CB14-11CE8F8FD2DC}"/>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3" name="Footer Placeholder 2">
            <a:extLst>
              <a:ext uri="{FF2B5EF4-FFF2-40B4-BE49-F238E27FC236}">
                <a16:creationId xmlns:a16="http://schemas.microsoft.com/office/drawing/2014/main" id="{3EE19A0B-796C-4341-5EF5-DA91127C697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7DC7F90-CDA0-ECFE-A036-7D6ED72621E3}"/>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3295455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8E2D4-4BC7-1777-6C0A-FB5F56000F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4E0BE6-B3EC-27B2-C23C-C3413AA36B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F051B47-161D-B035-E958-AFEBB67C83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000DFB-C0C8-5CB1-E065-0F215EDC77EA}"/>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6" name="Footer Placeholder 5">
            <a:extLst>
              <a:ext uri="{FF2B5EF4-FFF2-40B4-BE49-F238E27FC236}">
                <a16:creationId xmlns:a16="http://schemas.microsoft.com/office/drawing/2014/main" id="{A863D9B9-4E3E-E2CF-2935-92F4007B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38ADC9-C5BF-E0BB-38F9-25E4E66309D6}"/>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3955935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E0C87-5E97-9249-8215-D206A2E7E7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E422BD-1579-EA12-F968-82E0C10685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FE4D67-D8CE-2C6F-C206-6776214E1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D5FF49-3724-AEF2-677B-A0B14351C68B}"/>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6" name="Footer Placeholder 5">
            <a:extLst>
              <a:ext uri="{FF2B5EF4-FFF2-40B4-BE49-F238E27FC236}">
                <a16:creationId xmlns:a16="http://schemas.microsoft.com/office/drawing/2014/main" id="{8D996376-3C56-DE56-6FF4-67D179BCDC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70C114-8454-7FDA-73CB-C94D51D5ECF9}"/>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2393387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26840-C948-4CA5-3043-E758E1B68B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4417D7-5DE2-9773-4222-C6B913E23B7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3F2CF6-7FF9-FB28-2450-A10FD8B339DC}"/>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5" name="Footer Placeholder 4">
            <a:extLst>
              <a:ext uri="{FF2B5EF4-FFF2-40B4-BE49-F238E27FC236}">
                <a16:creationId xmlns:a16="http://schemas.microsoft.com/office/drawing/2014/main" id="{F69C7FB5-73F8-4D97-0DC6-7F994887A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3B93F-7C0E-D58E-56C6-6B7AEFC6E058}"/>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194162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4BC59E-06B0-CE1D-6365-6CE6371F53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63205D-78B8-D105-1BAE-F6E4A18E55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8751D7-4C70-47BF-A7C9-E6C80BB0525D}"/>
              </a:ext>
            </a:extLst>
          </p:cNvPr>
          <p:cNvSpPr>
            <a:spLocks noGrp="1"/>
          </p:cNvSpPr>
          <p:nvPr>
            <p:ph type="dt" sz="half" idx="10"/>
          </p:nvPr>
        </p:nvSpPr>
        <p:spPr/>
        <p:txBody>
          <a:bodyPr/>
          <a:lstStyle/>
          <a:p>
            <a:fld id="{5360DC35-7AF9-4F41-ACA9-AB95356974C9}" type="datetimeFigureOut">
              <a:rPr lang="en-US" smtClean="0"/>
              <a:t>9/4/25</a:t>
            </a:fld>
            <a:endParaRPr lang="en-US"/>
          </a:p>
        </p:txBody>
      </p:sp>
      <p:sp>
        <p:nvSpPr>
          <p:cNvPr id="5" name="Footer Placeholder 4">
            <a:extLst>
              <a:ext uri="{FF2B5EF4-FFF2-40B4-BE49-F238E27FC236}">
                <a16:creationId xmlns:a16="http://schemas.microsoft.com/office/drawing/2014/main" id="{37DE82E8-422D-CE14-30B0-AFDCF3967D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7D8470-BEBA-DFA0-8C3F-681617E041A3}"/>
              </a:ext>
            </a:extLst>
          </p:cNvPr>
          <p:cNvSpPr>
            <a:spLocks noGrp="1"/>
          </p:cNvSpPr>
          <p:nvPr>
            <p:ph type="sldNum" sz="quarter" idx="12"/>
          </p:nvPr>
        </p:nvSpPr>
        <p:spPr/>
        <p:txBody>
          <a:bodyPr/>
          <a:lstStyle/>
          <a:p>
            <a:fld id="{78DA2C02-6AC1-1548-B846-9476F7FC7400}" type="slidenum">
              <a:rPr lang="en-US" smtClean="0"/>
              <a:t>‹#›</a:t>
            </a:fld>
            <a:endParaRPr lang="en-US"/>
          </a:p>
        </p:txBody>
      </p:sp>
    </p:spTree>
    <p:extLst>
      <p:ext uri="{BB962C8B-B14F-4D97-AF65-F5344CB8AC3E}">
        <p14:creationId xmlns:p14="http://schemas.microsoft.com/office/powerpoint/2010/main" val="207639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912A51-BBAF-FAA1-3B4C-67CFF5B585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2ED119-B408-18DF-86AF-41BDE15BBE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979DEB-BD5F-AC55-E2FD-6D5C130CAF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360DC35-7AF9-4F41-ACA9-AB95356974C9}" type="datetimeFigureOut">
              <a:rPr lang="en-US" smtClean="0"/>
              <a:t>9/4/25</a:t>
            </a:fld>
            <a:endParaRPr lang="en-US"/>
          </a:p>
        </p:txBody>
      </p:sp>
      <p:sp>
        <p:nvSpPr>
          <p:cNvPr id="5" name="Footer Placeholder 4">
            <a:extLst>
              <a:ext uri="{FF2B5EF4-FFF2-40B4-BE49-F238E27FC236}">
                <a16:creationId xmlns:a16="http://schemas.microsoft.com/office/drawing/2014/main" id="{7C92C336-986B-0AC5-B5EB-8CD1BAB350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2DBA30-58AA-E28E-3250-BD32FDA73A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DA2C02-6AC1-1548-B846-9476F7FC7400}" type="slidenum">
              <a:rPr lang="en-US" smtClean="0"/>
              <a:t>‹#›</a:t>
            </a:fld>
            <a:endParaRPr lang="en-US"/>
          </a:p>
        </p:txBody>
      </p:sp>
    </p:spTree>
    <p:extLst>
      <p:ext uri="{BB962C8B-B14F-4D97-AF65-F5344CB8AC3E}">
        <p14:creationId xmlns:p14="http://schemas.microsoft.com/office/powerpoint/2010/main" val="1997651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F9CC7-876B-87D9-1F0A-23CB4B3E24A6}"/>
              </a:ext>
            </a:extLst>
          </p:cNvPr>
          <p:cNvSpPr>
            <a:spLocks noGrp="1"/>
          </p:cNvSpPr>
          <p:nvPr>
            <p:ph type="ctrTitle"/>
          </p:nvPr>
        </p:nvSpPr>
        <p:spPr/>
        <p:txBody>
          <a:bodyPr>
            <a:normAutofit fontScale="90000"/>
          </a:bodyPr>
          <a:lstStyle/>
          <a:p>
            <a:r>
              <a:rPr lang="en-US" dirty="0"/>
              <a:t>Patient and Physician Reports: Data Visualization Plan</a:t>
            </a:r>
          </a:p>
        </p:txBody>
      </p:sp>
      <p:sp>
        <p:nvSpPr>
          <p:cNvPr id="3" name="Subtitle 2">
            <a:extLst>
              <a:ext uri="{FF2B5EF4-FFF2-40B4-BE49-F238E27FC236}">
                <a16:creationId xmlns:a16="http://schemas.microsoft.com/office/drawing/2014/main" id="{E2CBA8E2-401D-35ED-43E9-982BB6E7462A}"/>
              </a:ext>
            </a:extLst>
          </p:cNvPr>
          <p:cNvSpPr>
            <a:spLocks noGrp="1"/>
          </p:cNvSpPr>
          <p:nvPr>
            <p:ph type="subTitle" idx="1"/>
          </p:nvPr>
        </p:nvSpPr>
        <p:spPr/>
        <p:txBody>
          <a:bodyPr/>
          <a:lstStyle/>
          <a:p>
            <a:r>
              <a:rPr lang="en-US" dirty="0"/>
              <a:t>Timothy Daskivich, MD</a:t>
            </a:r>
          </a:p>
          <a:p>
            <a:r>
              <a:rPr lang="en-US"/>
              <a:t>Sept 4, </a:t>
            </a:r>
            <a:r>
              <a:rPr lang="en-US" dirty="0"/>
              <a:t>2025</a:t>
            </a:r>
          </a:p>
        </p:txBody>
      </p:sp>
    </p:spTree>
    <p:extLst>
      <p:ext uri="{BB962C8B-B14F-4D97-AF65-F5344CB8AC3E}">
        <p14:creationId xmlns:p14="http://schemas.microsoft.com/office/powerpoint/2010/main" val="2681061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A1CE0-756C-B100-7C64-11D012BFC27C}"/>
              </a:ext>
            </a:extLst>
          </p:cNvPr>
          <p:cNvSpPr>
            <a:spLocks noGrp="1"/>
          </p:cNvSpPr>
          <p:nvPr>
            <p:ph type="title"/>
          </p:nvPr>
        </p:nvSpPr>
        <p:spPr>
          <a:xfrm>
            <a:off x="338667" y="0"/>
            <a:ext cx="11853333" cy="1249680"/>
          </a:xfrm>
        </p:spPr>
        <p:txBody>
          <a:bodyPr/>
          <a:lstStyle/>
          <a:p>
            <a:r>
              <a:rPr lang="en-US" sz="2933" dirty="0"/>
              <a:t>Cluster Randomized Trial of NLP+AI-Based Feedback from Prostate Cancer Consultations </a:t>
            </a:r>
          </a:p>
        </p:txBody>
      </p:sp>
      <p:pic>
        <p:nvPicPr>
          <p:cNvPr id="5" name="Picture 4">
            <a:extLst>
              <a:ext uri="{FF2B5EF4-FFF2-40B4-BE49-F238E27FC236}">
                <a16:creationId xmlns:a16="http://schemas.microsoft.com/office/drawing/2014/main" id="{45D67C49-48E2-31F3-8B8F-DD0D6C624FF6}"/>
              </a:ext>
            </a:extLst>
          </p:cNvPr>
          <p:cNvPicPr>
            <a:picLocks noChangeAspect="1"/>
          </p:cNvPicPr>
          <p:nvPr/>
        </p:nvPicPr>
        <p:blipFill>
          <a:blip r:embed="rId2"/>
          <a:stretch>
            <a:fillRect/>
          </a:stretch>
        </p:blipFill>
        <p:spPr>
          <a:xfrm>
            <a:off x="1364879" y="1410071"/>
            <a:ext cx="9462243" cy="3555923"/>
          </a:xfrm>
          <a:prstGeom prst="rect">
            <a:avLst/>
          </a:prstGeom>
        </p:spPr>
      </p:pic>
      <p:sp>
        <p:nvSpPr>
          <p:cNvPr id="8" name="TextBox 7">
            <a:extLst>
              <a:ext uri="{FF2B5EF4-FFF2-40B4-BE49-F238E27FC236}">
                <a16:creationId xmlns:a16="http://schemas.microsoft.com/office/drawing/2014/main" id="{13AD705C-EF26-219D-6CC7-B51C81C156A6}"/>
              </a:ext>
            </a:extLst>
          </p:cNvPr>
          <p:cNvSpPr txBox="1"/>
          <p:nvPr/>
        </p:nvSpPr>
        <p:spPr>
          <a:xfrm>
            <a:off x="5926667" y="6363748"/>
            <a:ext cx="6096000" cy="377347"/>
          </a:xfrm>
          <a:prstGeom prst="rect">
            <a:avLst/>
          </a:prstGeom>
          <a:noFill/>
        </p:spPr>
        <p:txBody>
          <a:bodyPr wrap="square">
            <a:spAutoFit/>
          </a:bodyPr>
          <a:lstStyle/>
          <a:p>
            <a:pPr algn="r" defTabSz="1219170">
              <a:lnSpc>
                <a:spcPct val="85000"/>
              </a:lnSpc>
              <a:spcBef>
                <a:spcPts val="133"/>
              </a:spcBef>
              <a:defRPr/>
            </a:pPr>
            <a:r>
              <a:rPr lang="en-US" sz="2133" dirty="0"/>
              <a:t>R01CA290559, PI: Daskivich</a:t>
            </a:r>
          </a:p>
        </p:txBody>
      </p:sp>
      <p:sp>
        <p:nvSpPr>
          <p:cNvPr id="9" name="TextBox 8">
            <a:extLst>
              <a:ext uri="{FF2B5EF4-FFF2-40B4-BE49-F238E27FC236}">
                <a16:creationId xmlns:a16="http://schemas.microsoft.com/office/drawing/2014/main" id="{8F9711CE-B24F-AEDE-C713-2878A58BB1EE}"/>
              </a:ext>
            </a:extLst>
          </p:cNvPr>
          <p:cNvSpPr txBox="1"/>
          <p:nvPr/>
        </p:nvSpPr>
        <p:spPr>
          <a:xfrm>
            <a:off x="6265334" y="5048485"/>
            <a:ext cx="5757333" cy="892360"/>
          </a:xfrm>
          <a:prstGeom prst="rect">
            <a:avLst/>
          </a:prstGeom>
          <a:noFill/>
        </p:spPr>
        <p:txBody>
          <a:bodyPr wrap="square" rtlCol="0">
            <a:spAutoFit/>
          </a:bodyPr>
          <a:lstStyle/>
          <a:p>
            <a:pPr algn="l"/>
            <a:r>
              <a:rPr lang="en-US" sz="1733" dirty="0"/>
              <a:t>Can real-time NLP+AI-based feedback on what was said in prostate cancer consultations improve quality of physician communication and patient decision making? </a:t>
            </a:r>
            <a:endParaRPr lang="en-US" sz="1733" dirty="0">
              <a:solidFill>
                <a:schemeClr val="accent2"/>
              </a:solidFill>
            </a:endParaRPr>
          </a:p>
        </p:txBody>
      </p:sp>
      <p:sp>
        <p:nvSpPr>
          <p:cNvPr id="3" name="TextBox 2">
            <a:extLst>
              <a:ext uri="{FF2B5EF4-FFF2-40B4-BE49-F238E27FC236}">
                <a16:creationId xmlns:a16="http://schemas.microsoft.com/office/drawing/2014/main" id="{64CE94C1-4DF8-EDD2-ECCD-379F5D26DCCA}"/>
              </a:ext>
            </a:extLst>
          </p:cNvPr>
          <p:cNvSpPr txBox="1"/>
          <p:nvPr/>
        </p:nvSpPr>
        <p:spPr>
          <a:xfrm>
            <a:off x="169333" y="4761226"/>
            <a:ext cx="6096000" cy="1179682"/>
          </a:xfrm>
          <a:prstGeom prst="rect">
            <a:avLst/>
          </a:prstGeom>
          <a:noFill/>
        </p:spPr>
        <p:txBody>
          <a:bodyPr wrap="square" rtlCol="0">
            <a:spAutoFit/>
          </a:bodyPr>
          <a:lstStyle/>
          <a:p>
            <a:pPr algn="l"/>
            <a:r>
              <a:rPr lang="en-US" sz="1867" dirty="0">
                <a:solidFill>
                  <a:schemeClr val="accent2"/>
                </a:solidFill>
              </a:rPr>
              <a:t>Cluster randomized at level of physician to: </a:t>
            </a:r>
          </a:p>
          <a:p>
            <a:pPr marL="380990" indent="-380990">
              <a:buFont typeface="Arial" panose="020B0604020202020204" pitchFamily="34" charset="0"/>
              <a:buChar char="•"/>
            </a:pPr>
            <a:r>
              <a:rPr lang="en-US" sz="1733" dirty="0">
                <a:solidFill>
                  <a:schemeClr val="accent2"/>
                </a:solidFill>
              </a:rPr>
              <a:t>NLP+AI summaries of key topics emailed after the visit</a:t>
            </a:r>
          </a:p>
          <a:p>
            <a:pPr marL="380990" indent="-380990">
              <a:buFont typeface="Arial" panose="020B0604020202020204" pitchFamily="34" charset="0"/>
              <a:buChar char="•"/>
            </a:pPr>
            <a:r>
              <a:rPr lang="en-US" sz="1733" dirty="0">
                <a:solidFill>
                  <a:schemeClr val="accent2"/>
                </a:solidFill>
              </a:rPr>
              <a:t>Standard of care (AUA-published literature on risk communication (doctors) and decision making (pts)</a:t>
            </a:r>
          </a:p>
        </p:txBody>
      </p:sp>
    </p:spTree>
    <p:extLst>
      <p:ext uri="{BB962C8B-B14F-4D97-AF65-F5344CB8AC3E}">
        <p14:creationId xmlns:p14="http://schemas.microsoft.com/office/powerpoint/2010/main" val="477487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B49C2-E74F-F0B1-0DA3-145CD86E1D0D}"/>
              </a:ext>
            </a:extLst>
          </p:cNvPr>
          <p:cNvSpPr>
            <a:spLocks noGrp="1"/>
          </p:cNvSpPr>
          <p:nvPr>
            <p:ph type="title"/>
          </p:nvPr>
        </p:nvSpPr>
        <p:spPr>
          <a:xfrm>
            <a:off x="838200" y="2560637"/>
            <a:ext cx="10515600" cy="1325563"/>
          </a:xfrm>
        </p:spPr>
        <p:txBody>
          <a:bodyPr/>
          <a:lstStyle/>
          <a:p>
            <a:r>
              <a:rPr lang="en-US" dirty="0"/>
              <a:t>Patient Reports</a:t>
            </a:r>
          </a:p>
        </p:txBody>
      </p:sp>
    </p:spTree>
    <p:extLst>
      <p:ext uri="{BB962C8B-B14F-4D97-AF65-F5344CB8AC3E}">
        <p14:creationId xmlns:p14="http://schemas.microsoft.com/office/powerpoint/2010/main" val="1385251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06669A-9B9B-D53E-15BD-6A98740083ED}"/>
              </a:ext>
            </a:extLst>
          </p:cNvPr>
          <p:cNvPicPr>
            <a:picLocks noChangeAspect="1"/>
          </p:cNvPicPr>
          <p:nvPr/>
        </p:nvPicPr>
        <p:blipFill>
          <a:blip r:embed="rId2"/>
          <a:stretch>
            <a:fillRect/>
          </a:stretch>
        </p:blipFill>
        <p:spPr>
          <a:xfrm>
            <a:off x="1455924" y="561109"/>
            <a:ext cx="9212904" cy="5694218"/>
          </a:xfrm>
          <a:prstGeom prst="rect">
            <a:avLst/>
          </a:prstGeom>
        </p:spPr>
      </p:pic>
    </p:spTree>
    <p:extLst>
      <p:ext uri="{BB962C8B-B14F-4D97-AF65-F5344CB8AC3E}">
        <p14:creationId xmlns:p14="http://schemas.microsoft.com/office/powerpoint/2010/main" val="4286834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B147E91-C6EF-8E6E-CA72-987C010621DA}"/>
              </a:ext>
            </a:extLst>
          </p:cNvPr>
          <p:cNvPicPr>
            <a:picLocks noChangeAspect="1"/>
          </p:cNvPicPr>
          <p:nvPr/>
        </p:nvPicPr>
        <p:blipFill>
          <a:blip r:embed="rId2"/>
          <a:stretch>
            <a:fillRect/>
          </a:stretch>
        </p:blipFill>
        <p:spPr>
          <a:xfrm>
            <a:off x="2209800" y="404720"/>
            <a:ext cx="7772400" cy="6048560"/>
          </a:xfrm>
          <a:prstGeom prst="rect">
            <a:avLst/>
          </a:prstGeom>
        </p:spPr>
      </p:pic>
    </p:spTree>
    <p:extLst>
      <p:ext uri="{BB962C8B-B14F-4D97-AF65-F5344CB8AC3E}">
        <p14:creationId xmlns:p14="http://schemas.microsoft.com/office/powerpoint/2010/main" val="2035057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0B09C-F0C1-949B-7A49-7093975B3816}"/>
              </a:ext>
            </a:extLst>
          </p:cNvPr>
          <p:cNvSpPr>
            <a:spLocks noGrp="1"/>
          </p:cNvSpPr>
          <p:nvPr>
            <p:ph type="title"/>
          </p:nvPr>
        </p:nvSpPr>
        <p:spPr/>
        <p:txBody>
          <a:bodyPr/>
          <a:lstStyle/>
          <a:p>
            <a:r>
              <a:rPr lang="en-US" dirty="0"/>
              <a:t>Patient Report</a:t>
            </a:r>
          </a:p>
        </p:txBody>
      </p:sp>
      <p:sp>
        <p:nvSpPr>
          <p:cNvPr id="3" name="Content Placeholder 2">
            <a:extLst>
              <a:ext uri="{FF2B5EF4-FFF2-40B4-BE49-F238E27FC236}">
                <a16:creationId xmlns:a16="http://schemas.microsoft.com/office/drawing/2014/main" id="{0F2FA23E-7621-7D36-7DEB-CBAE2D648226}"/>
              </a:ext>
            </a:extLst>
          </p:cNvPr>
          <p:cNvSpPr>
            <a:spLocks noGrp="1"/>
          </p:cNvSpPr>
          <p:nvPr>
            <p:ph idx="1"/>
          </p:nvPr>
        </p:nvSpPr>
        <p:spPr/>
        <p:txBody>
          <a:bodyPr/>
          <a:lstStyle/>
          <a:p>
            <a:r>
              <a:rPr lang="en-US" dirty="0"/>
              <a:t>Introductory information explaining what results are (</a:t>
            </a:r>
            <a:r>
              <a:rPr lang="en-US" dirty="0" err="1"/>
              <a:t>ie</a:t>
            </a:r>
            <a:r>
              <a:rPr lang="en-US" dirty="0"/>
              <a:t> slide 4)</a:t>
            </a:r>
          </a:p>
          <a:p>
            <a:r>
              <a:rPr lang="en-US" dirty="0"/>
              <a:t>For each of 5 domains (cancer prognosis, life expectancy, erectile dysfunction, urinary incontinence, and irritative lower urinary tract symptoms):</a:t>
            </a:r>
          </a:p>
          <a:p>
            <a:pPr lvl="1"/>
            <a:r>
              <a:rPr lang="en-US" dirty="0"/>
              <a:t>Top 5 sentences extracted by NLP</a:t>
            </a:r>
          </a:p>
          <a:p>
            <a:pPr lvl="1"/>
            <a:r>
              <a:rPr lang="en-US" dirty="0"/>
              <a:t>AI summary (will send scripts and prompts for this)</a:t>
            </a:r>
          </a:p>
        </p:txBody>
      </p:sp>
    </p:spTree>
    <p:extLst>
      <p:ext uri="{BB962C8B-B14F-4D97-AF65-F5344CB8AC3E}">
        <p14:creationId xmlns:p14="http://schemas.microsoft.com/office/powerpoint/2010/main" val="3921900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0B3C0-EA3E-2DB5-3F1A-4D5507AC7F8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F9CC080-9FAD-2670-8DAC-65C666E936C4}"/>
              </a:ext>
            </a:extLst>
          </p:cNvPr>
          <p:cNvSpPr>
            <a:spLocks noGrp="1"/>
          </p:cNvSpPr>
          <p:nvPr>
            <p:ph type="title"/>
          </p:nvPr>
        </p:nvSpPr>
        <p:spPr>
          <a:xfrm>
            <a:off x="838200" y="2560637"/>
            <a:ext cx="10515600" cy="1325563"/>
          </a:xfrm>
        </p:spPr>
        <p:txBody>
          <a:bodyPr/>
          <a:lstStyle/>
          <a:p>
            <a:r>
              <a:rPr lang="en-US" dirty="0"/>
              <a:t>Physician Reports</a:t>
            </a:r>
          </a:p>
        </p:txBody>
      </p:sp>
    </p:spTree>
    <p:extLst>
      <p:ext uri="{BB962C8B-B14F-4D97-AF65-F5344CB8AC3E}">
        <p14:creationId xmlns:p14="http://schemas.microsoft.com/office/powerpoint/2010/main" val="3822920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7B88A-89AD-19B6-6A34-F82A47AD2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E9C1C-B1BC-7332-AE09-E37FBC35FEF3}"/>
              </a:ext>
            </a:extLst>
          </p:cNvPr>
          <p:cNvSpPr>
            <a:spLocks noGrp="1"/>
          </p:cNvSpPr>
          <p:nvPr>
            <p:ph type="title"/>
          </p:nvPr>
        </p:nvSpPr>
        <p:spPr/>
        <p:txBody>
          <a:bodyPr/>
          <a:lstStyle/>
          <a:p>
            <a:r>
              <a:rPr lang="en-US" dirty="0"/>
              <a:t>Physician Report</a:t>
            </a:r>
          </a:p>
        </p:txBody>
      </p:sp>
      <p:sp>
        <p:nvSpPr>
          <p:cNvPr id="3" name="Content Placeholder 2">
            <a:extLst>
              <a:ext uri="{FF2B5EF4-FFF2-40B4-BE49-F238E27FC236}">
                <a16:creationId xmlns:a16="http://schemas.microsoft.com/office/drawing/2014/main" id="{1DE2E550-DE48-719A-85F6-621D711003D5}"/>
              </a:ext>
            </a:extLst>
          </p:cNvPr>
          <p:cNvSpPr>
            <a:spLocks noGrp="1"/>
          </p:cNvSpPr>
          <p:nvPr>
            <p:ph idx="1"/>
          </p:nvPr>
        </p:nvSpPr>
        <p:spPr/>
        <p:txBody>
          <a:bodyPr>
            <a:normAutofit fontScale="92500"/>
          </a:bodyPr>
          <a:lstStyle/>
          <a:p>
            <a:r>
              <a:rPr lang="en-US" dirty="0"/>
              <a:t>One page summarizing results in grid format (</a:t>
            </a:r>
            <a:r>
              <a:rPr lang="en-US" dirty="0" err="1"/>
              <a:t>ie</a:t>
            </a:r>
            <a:r>
              <a:rPr lang="en-US" dirty="0"/>
              <a:t> slide 9)</a:t>
            </a:r>
          </a:p>
          <a:p>
            <a:r>
              <a:rPr lang="en-US" dirty="0"/>
              <a:t>For each of 5 domains (cancer prognosis, life expectancy, erectile dysfunction, urinary incontinence, and irritative lower urinary tract symptoms) a separate “page” showing a display like slide 10. </a:t>
            </a:r>
          </a:p>
          <a:p>
            <a:pPr lvl="1"/>
            <a:r>
              <a:rPr lang="en-US" dirty="0"/>
              <a:t>However, the group felt like the x and y axes in the figure should be switched, making each level of quality vertical, with highest level on top</a:t>
            </a:r>
          </a:p>
          <a:p>
            <a:pPr lvl="1"/>
            <a:r>
              <a:rPr lang="en-US" dirty="0"/>
              <a:t>Suggestions for improvement (specific to each domain) are on slides 11-16</a:t>
            </a:r>
          </a:p>
          <a:p>
            <a:pPr lvl="2"/>
            <a:r>
              <a:rPr lang="en-US" dirty="0"/>
              <a:t>Only display suggestions for improvement that are higher than the scored sentence (</a:t>
            </a:r>
            <a:r>
              <a:rPr lang="en-US" dirty="0" err="1"/>
              <a:t>ie</a:t>
            </a:r>
            <a:r>
              <a:rPr lang="en-US" dirty="0"/>
              <a:t> if score was 3, only show suggestions to achieve score of 4 and 5)</a:t>
            </a:r>
          </a:p>
          <a:p>
            <a:pPr lvl="1"/>
            <a:r>
              <a:rPr lang="en-US" dirty="0"/>
              <a:t>Also would want the capability for doctors to provide a new sentence that would then be graded again by our AI scoring – could be verbal or type written</a:t>
            </a:r>
          </a:p>
        </p:txBody>
      </p:sp>
    </p:spTree>
    <p:extLst>
      <p:ext uri="{BB962C8B-B14F-4D97-AF65-F5344CB8AC3E}">
        <p14:creationId xmlns:p14="http://schemas.microsoft.com/office/powerpoint/2010/main" val="3411100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a:extLst>
              <a:ext uri="{FF2B5EF4-FFF2-40B4-BE49-F238E27FC236}">
                <a16:creationId xmlns:a16="http://schemas.microsoft.com/office/drawing/2014/main" id="{D01FEF91-93B4-92FB-0B76-012338CF1C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097" y="-1328737"/>
            <a:ext cx="11718394" cy="659518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8E62963-CDAC-A189-7B5A-7D9FB553C5CD}"/>
              </a:ext>
            </a:extLst>
          </p:cNvPr>
          <p:cNvSpPr txBox="1"/>
          <p:nvPr/>
        </p:nvSpPr>
        <p:spPr>
          <a:xfrm>
            <a:off x="1271588" y="5266444"/>
            <a:ext cx="8701087" cy="1477328"/>
          </a:xfrm>
          <a:prstGeom prst="rect">
            <a:avLst/>
          </a:prstGeom>
          <a:noFill/>
        </p:spPr>
        <p:txBody>
          <a:bodyPr wrap="square" rtlCol="0">
            <a:spAutoFit/>
          </a:bodyPr>
          <a:lstStyle/>
          <a:p>
            <a:r>
              <a:rPr lang="en-US" dirty="0"/>
              <a:t>Score should be color coded and numeric  1 red 2 pink 3 yellow 4 ?light green 5 green; symbols unnecessary – should be colors and numbers</a:t>
            </a:r>
          </a:p>
          <a:p>
            <a:endParaRPr lang="en-US" dirty="0"/>
          </a:p>
          <a:p>
            <a:r>
              <a:rPr lang="en-US" dirty="0"/>
              <a:t>This should also have an additional column for suggestions for improvement in between the third and fourth column</a:t>
            </a:r>
          </a:p>
        </p:txBody>
      </p:sp>
      <p:sp>
        <p:nvSpPr>
          <p:cNvPr id="3" name="Title 2">
            <a:extLst>
              <a:ext uri="{FF2B5EF4-FFF2-40B4-BE49-F238E27FC236}">
                <a16:creationId xmlns:a16="http://schemas.microsoft.com/office/drawing/2014/main" id="{CD63E81A-08BD-CD9B-152E-F74F287E3660}"/>
              </a:ext>
            </a:extLst>
          </p:cNvPr>
          <p:cNvSpPr>
            <a:spLocks noGrp="1"/>
          </p:cNvSpPr>
          <p:nvPr>
            <p:ph type="title"/>
          </p:nvPr>
        </p:nvSpPr>
        <p:spPr/>
        <p:txBody>
          <a:bodyPr/>
          <a:lstStyle/>
          <a:p>
            <a:r>
              <a:rPr lang="en-US" dirty="0"/>
              <a:t>Grid summary</a:t>
            </a:r>
          </a:p>
        </p:txBody>
      </p:sp>
    </p:spTree>
    <p:extLst>
      <p:ext uri="{BB962C8B-B14F-4D97-AF65-F5344CB8AC3E}">
        <p14:creationId xmlns:p14="http://schemas.microsoft.com/office/powerpoint/2010/main" val="509295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5FEB2-62BF-9766-7FD1-968BED3F417C}"/>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F47DC405-2DE3-D4C5-589C-596542D50908}"/>
              </a:ext>
            </a:extLst>
          </p:cNvPr>
          <p:cNvCxnSpPr/>
          <p:nvPr/>
        </p:nvCxnSpPr>
        <p:spPr>
          <a:xfrm>
            <a:off x="1871560" y="3215970"/>
            <a:ext cx="36081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B03EF5F0-C250-0893-03DC-69FC889E0BE3}"/>
              </a:ext>
            </a:extLst>
          </p:cNvPr>
          <p:cNvCxnSpPr/>
          <p:nvPr/>
        </p:nvCxnSpPr>
        <p:spPr>
          <a:xfrm>
            <a:off x="1871558" y="3166545"/>
            <a:ext cx="0" cy="94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114E782D-15F7-AFC7-DDD7-C08F03BEB1F6}"/>
              </a:ext>
            </a:extLst>
          </p:cNvPr>
          <p:cNvCxnSpPr/>
          <p:nvPr/>
        </p:nvCxnSpPr>
        <p:spPr>
          <a:xfrm>
            <a:off x="5479731" y="3166545"/>
            <a:ext cx="0" cy="94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59528D5-A0ED-78D9-9C65-EDD8AFB426D4}"/>
              </a:ext>
            </a:extLst>
          </p:cNvPr>
          <p:cNvCxnSpPr/>
          <p:nvPr/>
        </p:nvCxnSpPr>
        <p:spPr>
          <a:xfrm>
            <a:off x="2564909" y="3166545"/>
            <a:ext cx="0" cy="94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FC2A312D-1439-615B-21F7-C998DC124A7A}"/>
              </a:ext>
            </a:extLst>
          </p:cNvPr>
          <p:cNvCxnSpPr/>
          <p:nvPr/>
        </p:nvCxnSpPr>
        <p:spPr>
          <a:xfrm>
            <a:off x="3288466" y="3173410"/>
            <a:ext cx="0" cy="94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4D34C1F-3171-664A-5CEF-234EA03A8F21}"/>
              </a:ext>
            </a:extLst>
          </p:cNvPr>
          <p:cNvCxnSpPr/>
          <p:nvPr/>
        </p:nvCxnSpPr>
        <p:spPr>
          <a:xfrm>
            <a:off x="4038109" y="3168605"/>
            <a:ext cx="0" cy="94735"/>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2AC2E56-7DAE-A9AF-3601-2DBE3E1BDC04}"/>
              </a:ext>
            </a:extLst>
          </p:cNvPr>
          <p:cNvCxnSpPr/>
          <p:nvPr/>
        </p:nvCxnSpPr>
        <p:spPr>
          <a:xfrm>
            <a:off x="4768530" y="3173410"/>
            <a:ext cx="0" cy="94735"/>
          </a:xfrm>
          <a:prstGeom prst="line">
            <a:avLst/>
          </a:prstGeom>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5718B10-2983-5169-7CDC-AEF7786FF5F6}"/>
              </a:ext>
            </a:extLst>
          </p:cNvPr>
          <p:cNvSpPr txBox="1"/>
          <p:nvPr/>
        </p:nvSpPr>
        <p:spPr>
          <a:xfrm>
            <a:off x="531609" y="2713474"/>
            <a:ext cx="1000664" cy="400110"/>
          </a:xfrm>
          <a:prstGeom prst="rect">
            <a:avLst/>
          </a:prstGeom>
          <a:noFill/>
        </p:spPr>
        <p:txBody>
          <a:bodyPr wrap="square" rtlCol="0">
            <a:spAutoFit/>
          </a:bodyPr>
          <a:lstStyle/>
          <a:p>
            <a:r>
              <a:rPr lang="en-US" sz="1000" dirty="0"/>
              <a:t>Cancer Prognosis</a:t>
            </a:r>
          </a:p>
        </p:txBody>
      </p:sp>
      <p:sp>
        <p:nvSpPr>
          <p:cNvPr id="22" name="TextBox 21">
            <a:extLst>
              <a:ext uri="{FF2B5EF4-FFF2-40B4-BE49-F238E27FC236}">
                <a16:creationId xmlns:a16="http://schemas.microsoft.com/office/drawing/2014/main" id="{292A1AB0-A487-BCF8-73D8-EDE2C6817EC4}"/>
              </a:ext>
            </a:extLst>
          </p:cNvPr>
          <p:cNvSpPr txBox="1"/>
          <p:nvPr/>
        </p:nvSpPr>
        <p:spPr>
          <a:xfrm>
            <a:off x="2753687" y="3722127"/>
            <a:ext cx="1723230" cy="220510"/>
          </a:xfrm>
          <a:prstGeom prst="rect">
            <a:avLst/>
          </a:prstGeom>
          <a:noFill/>
        </p:spPr>
        <p:txBody>
          <a:bodyPr wrap="square" rtlCol="0">
            <a:spAutoFit/>
          </a:bodyPr>
          <a:lstStyle/>
          <a:p>
            <a:pPr algn="ctr"/>
            <a:r>
              <a:rPr lang="en-US" sz="833" dirty="0"/>
              <a:t>Quality of Risk Communication</a:t>
            </a:r>
          </a:p>
        </p:txBody>
      </p:sp>
      <p:cxnSp>
        <p:nvCxnSpPr>
          <p:cNvPr id="29" name="Straight Connector 28">
            <a:extLst>
              <a:ext uri="{FF2B5EF4-FFF2-40B4-BE49-F238E27FC236}">
                <a16:creationId xmlns:a16="http://schemas.microsoft.com/office/drawing/2014/main" id="{C83D99EB-763F-1F93-7F54-36206266DF17}"/>
              </a:ext>
            </a:extLst>
          </p:cNvPr>
          <p:cNvCxnSpPr>
            <a:cxnSpLocks/>
          </p:cNvCxnSpPr>
          <p:nvPr/>
        </p:nvCxnSpPr>
        <p:spPr>
          <a:xfrm flipH="1" flipV="1">
            <a:off x="2564292" y="2288212"/>
            <a:ext cx="1" cy="853440"/>
          </a:xfrm>
          <a:prstGeom prst="line">
            <a:avLst/>
          </a:prstGeom>
          <a:ln>
            <a:prstDash val="dash"/>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DF05AA7B-712A-C75F-E2AD-E759830BC387}"/>
              </a:ext>
            </a:extLst>
          </p:cNvPr>
          <p:cNvSpPr txBox="1"/>
          <p:nvPr/>
        </p:nvSpPr>
        <p:spPr>
          <a:xfrm>
            <a:off x="1635886" y="3270632"/>
            <a:ext cx="471344" cy="369332"/>
          </a:xfrm>
          <a:prstGeom prst="rect">
            <a:avLst/>
          </a:prstGeom>
          <a:noFill/>
        </p:spPr>
        <p:txBody>
          <a:bodyPr wrap="square" rtlCol="0">
            <a:spAutoFit/>
          </a:bodyPr>
          <a:lstStyle/>
          <a:p>
            <a:pPr algn="ctr"/>
            <a:r>
              <a:rPr lang="en-US" sz="600" dirty="0"/>
              <a:t>0</a:t>
            </a:r>
          </a:p>
          <a:p>
            <a:pPr algn="ctr"/>
            <a:r>
              <a:rPr lang="en-US" sz="600" dirty="0"/>
              <a:t>No mention</a:t>
            </a:r>
          </a:p>
        </p:txBody>
      </p:sp>
      <p:cxnSp>
        <p:nvCxnSpPr>
          <p:cNvPr id="27" name="Straight Connector 26">
            <a:extLst>
              <a:ext uri="{FF2B5EF4-FFF2-40B4-BE49-F238E27FC236}">
                <a16:creationId xmlns:a16="http://schemas.microsoft.com/office/drawing/2014/main" id="{6DCD8FEC-F7CC-5A73-3EB3-F78F8EA3301A}"/>
              </a:ext>
            </a:extLst>
          </p:cNvPr>
          <p:cNvCxnSpPr>
            <a:cxnSpLocks/>
          </p:cNvCxnSpPr>
          <p:nvPr/>
        </p:nvCxnSpPr>
        <p:spPr>
          <a:xfrm flipH="1" flipV="1">
            <a:off x="1870942" y="2287075"/>
            <a:ext cx="1" cy="85344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C9A2C26-0919-4CF0-F376-DE7316817D62}"/>
              </a:ext>
            </a:extLst>
          </p:cNvPr>
          <p:cNvCxnSpPr>
            <a:cxnSpLocks/>
          </p:cNvCxnSpPr>
          <p:nvPr/>
        </p:nvCxnSpPr>
        <p:spPr>
          <a:xfrm flipH="1" flipV="1">
            <a:off x="3286906" y="2290164"/>
            <a:ext cx="1" cy="85344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FDD7FE38-3369-D4C9-6C92-D9539CE0F31C}"/>
              </a:ext>
            </a:extLst>
          </p:cNvPr>
          <p:cNvCxnSpPr>
            <a:cxnSpLocks/>
          </p:cNvCxnSpPr>
          <p:nvPr/>
        </p:nvCxnSpPr>
        <p:spPr>
          <a:xfrm flipH="1" flipV="1">
            <a:off x="4036174" y="2290398"/>
            <a:ext cx="1" cy="85344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12B3C867-C2E1-0966-2237-ECFA9FEF7EB1}"/>
              </a:ext>
            </a:extLst>
          </p:cNvPr>
          <p:cNvCxnSpPr>
            <a:cxnSpLocks/>
          </p:cNvCxnSpPr>
          <p:nvPr/>
        </p:nvCxnSpPr>
        <p:spPr>
          <a:xfrm flipH="1" flipV="1">
            <a:off x="4767683" y="2290164"/>
            <a:ext cx="1" cy="853440"/>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509AAD2-1848-4CE1-12F5-1DDB401DD942}"/>
              </a:ext>
            </a:extLst>
          </p:cNvPr>
          <p:cNvCxnSpPr>
            <a:cxnSpLocks/>
          </p:cNvCxnSpPr>
          <p:nvPr/>
        </p:nvCxnSpPr>
        <p:spPr>
          <a:xfrm flipH="1" flipV="1">
            <a:off x="5478499" y="2290164"/>
            <a:ext cx="1" cy="853440"/>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033ADE85-3D42-A7C1-A1DA-388886CBE40F}"/>
              </a:ext>
            </a:extLst>
          </p:cNvPr>
          <p:cNvSpPr txBox="1"/>
          <p:nvPr/>
        </p:nvSpPr>
        <p:spPr>
          <a:xfrm>
            <a:off x="2329235" y="3270632"/>
            <a:ext cx="471344" cy="369332"/>
          </a:xfrm>
          <a:prstGeom prst="rect">
            <a:avLst/>
          </a:prstGeom>
          <a:noFill/>
        </p:spPr>
        <p:txBody>
          <a:bodyPr wrap="square" rtlCol="0">
            <a:spAutoFit/>
          </a:bodyPr>
          <a:lstStyle/>
          <a:p>
            <a:pPr algn="ctr"/>
            <a:r>
              <a:rPr lang="en-US" sz="600" dirty="0"/>
              <a:t>1</a:t>
            </a:r>
          </a:p>
          <a:p>
            <a:pPr algn="ctr"/>
            <a:r>
              <a:rPr lang="en-US" sz="600" dirty="0"/>
              <a:t>Name Only</a:t>
            </a:r>
          </a:p>
        </p:txBody>
      </p:sp>
      <p:sp>
        <p:nvSpPr>
          <p:cNvPr id="35" name="TextBox 34">
            <a:extLst>
              <a:ext uri="{FF2B5EF4-FFF2-40B4-BE49-F238E27FC236}">
                <a16:creationId xmlns:a16="http://schemas.microsoft.com/office/drawing/2014/main" id="{570D4ED1-9A3B-BE5D-25E1-6E56EC3BA263}"/>
              </a:ext>
            </a:extLst>
          </p:cNvPr>
          <p:cNvSpPr txBox="1"/>
          <p:nvPr/>
        </p:nvSpPr>
        <p:spPr>
          <a:xfrm>
            <a:off x="2910638" y="3291426"/>
            <a:ext cx="805183" cy="369332"/>
          </a:xfrm>
          <a:prstGeom prst="rect">
            <a:avLst/>
          </a:prstGeom>
          <a:noFill/>
        </p:spPr>
        <p:txBody>
          <a:bodyPr wrap="square" rtlCol="0">
            <a:spAutoFit/>
          </a:bodyPr>
          <a:lstStyle/>
          <a:p>
            <a:pPr algn="ctr"/>
            <a:r>
              <a:rPr lang="en-US" sz="600" dirty="0"/>
              <a:t>2</a:t>
            </a:r>
          </a:p>
          <a:p>
            <a:pPr algn="ctr"/>
            <a:r>
              <a:rPr lang="en-US" sz="600" dirty="0"/>
              <a:t>Generalization</a:t>
            </a:r>
          </a:p>
          <a:p>
            <a:pPr algn="ctr"/>
            <a:r>
              <a:rPr lang="en-US" sz="600" dirty="0"/>
              <a:t>(”High”/”Low”)</a:t>
            </a:r>
          </a:p>
        </p:txBody>
      </p:sp>
      <p:sp>
        <p:nvSpPr>
          <p:cNvPr id="36" name="TextBox 35">
            <a:extLst>
              <a:ext uri="{FF2B5EF4-FFF2-40B4-BE49-F238E27FC236}">
                <a16:creationId xmlns:a16="http://schemas.microsoft.com/office/drawing/2014/main" id="{BC5A9CA4-25EB-EA6C-6DC3-743FE247AB3C}"/>
              </a:ext>
            </a:extLst>
          </p:cNvPr>
          <p:cNvSpPr txBox="1"/>
          <p:nvPr/>
        </p:nvSpPr>
        <p:spPr>
          <a:xfrm>
            <a:off x="3685658" y="3280381"/>
            <a:ext cx="677179" cy="369332"/>
          </a:xfrm>
          <a:prstGeom prst="rect">
            <a:avLst/>
          </a:prstGeom>
          <a:noFill/>
        </p:spPr>
        <p:txBody>
          <a:bodyPr wrap="square" rtlCol="0">
            <a:spAutoFit/>
          </a:bodyPr>
          <a:lstStyle/>
          <a:p>
            <a:pPr algn="ctr"/>
            <a:r>
              <a:rPr lang="en-US" sz="600" dirty="0"/>
              <a:t>3</a:t>
            </a:r>
          </a:p>
          <a:p>
            <a:pPr algn="ctr"/>
            <a:r>
              <a:rPr lang="en-US" sz="600" dirty="0"/>
              <a:t>Imprecise Quantification</a:t>
            </a:r>
          </a:p>
        </p:txBody>
      </p:sp>
      <p:sp>
        <p:nvSpPr>
          <p:cNvPr id="37" name="TextBox 36">
            <a:extLst>
              <a:ext uri="{FF2B5EF4-FFF2-40B4-BE49-F238E27FC236}">
                <a16:creationId xmlns:a16="http://schemas.microsoft.com/office/drawing/2014/main" id="{8362300F-6D98-65B1-1CF4-A42152C37F00}"/>
              </a:ext>
            </a:extLst>
          </p:cNvPr>
          <p:cNvSpPr txBox="1"/>
          <p:nvPr/>
        </p:nvSpPr>
        <p:spPr>
          <a:xfrm>
            <a:off x="4408206" y="3284383"/>
            <a:ext cx="709903" cy="369332"/>
          </a:xfrm>
          <a:prstGeom prst="rect">
            <a:avLst/>
          </a:prstGeom>
          <a:noFill/>
        </p:spPr>
        <p:txBody>
          <a:bodyPr wrap="square" rtlCol="0">
            <a:spAutoFit/>
          </a:bodyPr>
          <a:lstStyle/>
          <a:p>
            <a:pPr algn="ctr"/>
            <a:r>
              <a:rPr lang="en-US" sz="600" dirty="0"/>
              <a:t>4</a:t>
            </a:r>
          </a:p>
          <a:p>
            <a:pPr algn="ctr"/>
            <a:r>
              <a:rPr lang="en-US" sz="600" dirty="0"/>
              <a:t>Specific Quantification</a:t>
            </a:r>
          </a:p>
        </p:txBody>
      </p:sp>
      <p:sp>
        <p:nvSpPr>
          <p:cNvPr id="38" name="TextBox 37">
            <a:extLst>
              <a:ext uri="{FF2B5EF4-FFF2-40B4-BE49-F238E27FC236}">
                <a16:creationId xmlns:a16="http://schemas.microsoft.com/office/drawing/2014/main" id="{8EEA4C8D-75EA-1305-6B5F-DD7BB310E1C1}"/>
              </a:ext>
            </a:extLst>
          </p:cNvPr>
          <p:cNvSpPr txBox="1"/>
          <p:nvPr/>
        </p:nvSpPr>
        <p:spPr>
          <a:xfrm>
            <a:off x="5200322" y="3284410"/>
            <a:ext cx="557939" cy="461665"/>
          </a:xfrm>
          <a:prstGeom prst="rect">
            <a:avLst/>
          </a:prstGeom>
          <a:noFill/>
        </p:spPr>
        <p:txBody>
          <a:bodyPr wrap="square" rtlCol="0">
            <a:spAutoFit/>
          </a:bodyPr>
          <a:lstStyle/>
          <a:p>
            <a:pPr algn="ctr"/>
            <a:r>
              <a:rPr lang="en-US" sz="600" dirty="0"/>
              <a:t>5</a:t>
            </a:r>
          </a:p>
          <a:p>
            <a:pPr algn="ctr"/>
            <a:r>
              <a:rPr lang="en-US" sz="600" dirty="0"/>
              <a:t>Patient-centered Estimate</a:t>
            </a:r>
          </a:p>
        </p:txBody>
      </p:sp>
      <p:sp>
        <p:nvSpPr>
          <p:cNvPr id="47" name="TextBox 46">
            <a:extLst>
              <a:ext uri="{FF2B5EF4-FFF2-40B4-BE49-F238E27FC236}">
                <a16:creationId xmlns:a16="http://schemas.microsoft.com/office/drawing/2014/main" id="{1C8F6778-4013-D0F3-D3F6-BD59458C23F3}"/>
              </a:ext>
            </a:extLst>
          </p:cNvPr>
          <p:cNvSpPr txBox="1"/>
          <p:nvPr/>
        </p:nvSpPr>
        <p:spPr>
          <a:xfrm>
            <a:off x="6567342" y="1934296"/>
            <a:ext cx="1670998" cy="400110"/>
          </a:xfrm>
          <a:prstGeom prst="rect">
            <a:avLst/>
          </a:prstGeom>
          <a:noFill/>
        </p:spPr>
        <p:txBody>
          <a:bodyPr wrap="square" rtlCol="0">
            <a:spAutoFit/>
          </a:bodyPr>
          <a:lstStyle/>
          <a:p>
            <a:pPr algn="ctr"/>
            <a:r>
              <a:rPr lang="en-US" sz="1000" dirty="0"/>
              <a:t>Suggestions for Improvement</a:t>
            </a:r>
          </a:p>
        </p:txBody>
      </p:sp>
      <p:sp>
        <p:nvSpPr>
          <p:cNvPr id="48" name="TextBox 47">
            <a:extLst>
              <a:ext uri="{FF2B5EF4-FFF2-40B4-BE49-F238E27FC236}">
                <a16:creationId xmlns:a16="http://schemas.microsoft.com/office/drawing/2014/main" id="{F8E842C2-6373-6951-254B-A55C2E92879C}"/>
              </a:ext>
            </a:extLst>
          </p:cNvPr>
          <p:cNvSpPr txBox="1"/>
          <p:nvPr/>
        </p:nvSpPr>
        <p:spPr>
          <a:xfrm>
            <a:off x="6056179" y="2564343"/>
            <a:ext cx="2532512" cy="1015663"/>
          </a:xfrm>
          <a:prstGeom prst="rect">
            <a:avLst/>
          </a:prstGeom>
          <a:noFill/>
        </p:spPr>
        <p:txBody>
          <a:bodyPr wrap="square" rtlCol="0">
            <a:spAutoFit/>
          </a:bodyPr>
          <a:lstStyle/>
          <a:p>
            <a:pPr marL="152385" indent="-152385">
              <a:buFont typeface="Arial" panose="020B0604020202020204" pitchFamily="34" charset="0"/>
              <a:buChar char="•"/>
            </a:pPr>
            <a:r>
              <a:rPr lang="en-US" sz="1000" dirty="0"/>
              <a:t>Provide cancer prognosis with and without treatment (to achieve score of 4)</a:t>
            </a:r>
          </a:p>
          <a:p>
            <a:endParaRPr lang="en-US" sz="1000" dirty="0"/>
          </a:p>
          <a:p>
            <a:pPr marL="152385" indent="-152385">
              <a:buFont typeface="Arial" panose="020B0604020202020204" pitchFamily="34" charset="0"/>
              <a:buChar char="•"/>
            </a:pPr>
            <a:r>
              <a:rPr lang="en-US" sz="1000" dirty="0"/>
              <a:t>Provide cancer prognosis at life expectancy (to achieve score of 5)</a:t>
            </a:r>
          </a:p>
        </p:txBody>
      </p:sp>
      <p:sp>
        <p:nvSpPr>
          <p:cNvPr id="2" name="Oval 1">
            <a:extLst>
              <a:ext uri="{FF2B5EF4-FFF2-40B4-BE49-F238E27FC236}">
                <a16:creationId xmlns:a16="http://schemas.microsoft.com/office/drawing/2014/main" id="{3C6F6762-01A9-C3FF-E8BB-912199868C94}"/>
              </a:ext>
            </a:extLst>
          </p:cNvPr>
          <p:cNvSpPr/>
          <p:nvPr/>
        </p:nvSpPr>
        <p:spPr>
          <a:xfrm>
            <a:off x="3378030" y="2494592"/>
            <a:ext cx="1293340" cy="506627"/>
          </a:xfrm>
          <a:prstGeom prst="ellipse">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3" name="TextBox 2">
            <a:extLst>
              <a:ext uri="{FF2B5EF4-FFF2-40B4-BE49-F238E27FC236}">
                <a16:creationId xmlns:a16="http://schemas.microsoft.com/office/drawing/2014/main" id="{4B386EA2-DC08-513E-7614-0C00B6F776DA}"/>
              </a:ext>
            </a:extLst>
          </p:cNvPr>
          <p:cNvSpPr txBox="1"/>
          <p:nvPr/>
        </p:nvSpPr>
        <p:spPr>
          <a:xfrm>
            <a:off x="3493488" y="2558202"/>
            <a:ext cx="1061521" cy="687817"/>
          </a:xfrm>
          <a:prstGeom prst="rect">
            <a:avLst/>
          </a:prstGeom>
          <a:noFill/>
        </p:spPr>
        <p:txBody>
          <a:bodyPr wrap="square" rtlCol="0">
            <a:spAutoFit/>
          </a:bodyPr>
          <a:lstStyle/>
          <a:p>
            <a:pPr algn="ctr"/>
            <a:r>
              <a:rPr lang="en-US" sz="467" dirty="0"/>
              <a:t>“So 12% risk of death from prostate cancer at 15 years is small in the grand scheme of things but it’s a little but too high for doctors.  1 in 10 chance of dying of prostate cancer, is too much.”</a:t>
            </a:r>
          </a:p>
          <a:p>
            <a:pPr algn="ctr"/>
            <a:endParaRPr lang="en-US" sz="600" dirty="0"/>
          </a:p>
        </p:txBody>
      </p:sp>
      <p:sp>
        <p:nvSpPr>
          <p:cNvPr id="120" name="TextBox 119">
            <a:extLst>
              <a:ext uri="{FF2B5EF4-FFF2-40B4-BE49-F238E27FC236}">
                <a16:creationId xmlns:a16="http://schemas.microsoft.com/office/drawing/2014/main" id="{2D94B040-6468-52C1-5CCE-A93F70885733}"/>
              </a:ext>
            </a:extLst>
          </p:cNvPr>
          <p:cNvSpPr txBox="1"/>
          <p:nvPr/>
        </p:nvSpPr>
        <p:spPr>
          <a:xfrm>
            <a:off x="9654196" y="1934296"/>
            <a:ext cx="1670998" cy="246221"/>
          </a:xfrm>
          <a:prstGeom prst="rect">
            <a:avLst/>
          </a:prstGeom>
          <a:noFill/>
        </p:spPr>
        <p:txBody>
          <a:bodyPr wrap="square" rtlCol="0">
            <a:spAutoFit/>
          </a:bodyPr>
          <a:lstStyle/>
          <a:p>
            <a:pPr algn="ctr"/>
            <a:r>
              <a:rPr lang="en-US" sz="1000" u="sng" dirty="0"/>
              <a:t>AI </a:t>
            </a:r>
            <a:r>
              <a:rPr lang="en-US" sz="1000" dirty="0"/>
              <a:t>Re-write</a:t>
            </a:r>
          </a:p>
        </p:txBody>
      </p:sp>
      <p:sp>
        <p:nvSpPr>
          <p:cNvPr id="129" name="Oval 128">
            <a:extLst>
              <a:ext uri="{FF2B5EF4-FFF2-40B4-BE49-F238E27FC236}">
                <a16:creationId xmlns:a16="http://schemas.microsoft.com/office/drawing/2014/main" id="{1E215076-5F22-6392-59C2-927D3A09F9F5}"/>
              </a:ext>
            </a:extLst>
          </p:cNvPr>
          <p:cNvSpPr/>
          <p:nvPr/>
        </p:nvSpPr>
        <p:spPr>
          <a:xfrm>
            <a:off x="9068975" y="2374439"/>
            <a:ext cx="2841441" cy="1016624"/>
          </a:xfrm>
          <a:prstGeom prst="ellipse">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600" dirty="0"/>
          </a:p>
        </p:txBody>
      </p:sp>
      <p:sp>
        <p:nvSpPr>
          <p:cNvPr id="130" name="TextBox 129">
            <a:extLst>
              <a:ext uri="{FF2B5EF4-FFF2-40B4-BE49-F238E27FC236}">
                <a16:creationId xmlns:a16="http://schemas.microsoft.com/office/drawing/2014/main" id="{0C470B75-A7CF-3269-2FFC-5CEEB2CB4F7B}"/>
              </a:ext>
            </a:extLst>
          </p:cNvPr>
          <p:cNvSpPr txBox="1"/>
          <p:nvPr/>
        </p:nvSpPr>
        <p:spPr>
          <a:xfrm>
            <a:off x="9369226" y="2552871"/>
            <a:ext cx="2243272" cy="758926"/>
          </a:xfrm>
          <a:prstGeom prst="rect">
            <a:avLst/>
          </a:prstGeom>
          <a:noFill/>
        </p:spPr>
        <p:txBody>
          <a:bodyPr wrap="square" rtlCol="0">
            <a:spAutoFit/>
          </a:bodyPr>
          <a:lstStyle/>
          <a:p>
            <a:pPr algn="ctr"/>
            <a:r>
              <a:rPr lang="en-US" sz="933" dirty="0"/>
              <a:t>“So 12% of risk of death from prostate cancer at your life expectancy of 17 years is a little too high. Treatment will reduce that risk to 6%.”</a:t>
            </a:r>
          </a:p>
          <a:p>
            <a:pPr algn="ctr"/>
            <a:endParaRPr lang="en-US" sz="600" dirty="0"/>
          </a:p>
        </p:txBody>
      </p:sp>
      <p:sp>
        <p:nvSpPr>
          <p:cNvPr id="137" name="TextBox 136">
            <a:extLst>
              <a:ext uri="{FF2B5EF4-FFF2-40B4-BE49-F238E27FC236}">
                <a16:creationId xmlns:a16="http://schemas.microsoft.com/office/drawing/2014/main" id="{D7034411-73CE-D473-6534-5CA1FFCDC056}"/>
              </a:ext>
            </a:extLst>
          </p:cNvPr>
          <p:cNvSpPr txBox="1"/>
          <p:nvPr/>
        </p:nvSpPr>
        <p:spPr>
          <a:xfrm>
            <a:off x="2451407" y="1934296"/>
            <a:ext cx="3023430" cy="246221"/>
          </a:xfrm>
          <a:prstGeom prst="rect">
            <a:avLst/>
          </a:prstGeom>
          <a:noFill/>
        </p:spPr>
        <p:txBody>
          <a:bodyPr wrap="square" rtlCol="0">
            <a:spAutoFit/>
          </a:bodyPr>
          <a:lstStyle/>
          <a:p>
            <a:pPr algn="ctr"/>
            <a:r>
              <a:rPr lang="en-US" sz="1000" dirty="0"/>
              <a:t>Consultation Scoring: 3 (Imprecise Quantification)</a:t>
            </a:r>
          </a:p>
        </p:txBody>
      </p:sp>
      <p:sp>
        <p:nvSpPr>
          <p:cNvPr id="4" name="TextBox 3">
            <a:extLst>
              <a:ext uri="{FF2B5EF4-FFF2-40B4-BE49-F238E27FC236}">
                <a16:creationId xmlns:a16="http://schemas.microsoft.com/office/drawing/2014/main" id="{3D23C925-5CB4-41A2-A3C4-84E54A7EE1C9}"/>
              </a:ext>
            </a:extLst>
          </p:cNvPr>
          <p:cNvSpPr txBox="1"/>
          <p:nvPr/>
        </p:nvSpPr>
        <p:spPr>
          <a:xfrm>
            <a:off x="1582799" y="4323890"/>
            <a:ext cx="10077592" cy="953723"/>
          </a:xfrm>
          <a:prstGeom prst="rect">
            <a:avLst/>
          </a:prstGeom>
          <a:noFill/>
        </p:spPr>
        <p:txBody>
          <a:bodyPr wrap="square" rtlCol="0">
            <a:spAutoFit/>
          </a:bodyPr>
          <a:lstStyle/>
          <a:p>
            <a:r>
              <a:rPr lang="en-US" sz="933" dirty="0"/>
              <a:t>“I hope you're not going to die of your cancer, I want to prevent that.  So of course everyone who gets diagnosed with cancer wants to know what is the risk that the cancer will harm them. We know this data from studies looking at risk of cancer death in men who chose not to treat their cancers.  In your case, that risk turns out to be 12% at 15 years.  </a:t>
            </a:r>
            <a:r>
              <a:rPr lang="en-US" sz="933" b="1" dirty="0"/>
              <a:t>So 12% risk of death from prostate cancer at 15 years is small in the grand scheme of things, but it's a little bit too high for doctors, so 1 in 10 chance, a little bit more than that actually 1.2 in 10 chance of dying of prostate cancer is too much.  </a:t>
            </a:r>
            <a:r>
              <a:rPr lang="en-US" sz="933" dirty="0"/>
              <a:t>So how do we get that number lower?  We would treat with surgery or radiation.  But would it be unreasonable to just watch this?  Not totally.  It's still on the table that you could potentially just watch this, but it's a value judgment, and we could match kind of what you think is important with your goals.  But for the majority of these unfavorable risks, intermediate risk prostate cancer that I do recommend treatment, just to be on the safe side.”</a:t>
            </a:r>
          </a:p>
        </p:txBody>
      </p:sp>
      <p:sp>
        <p:nvSpPr>
          <p:cNvPr id="6" name="TextBox 5">
            <a:extLst>
              <a:ext uri="{FF2B5EF4-FFF2-40B4-BE49-F238E27FC236}">
                <a16:creationId xmlns:a16="http://schemas.microsoft.com/office/drawing/2014/main" id="{2A2BEE9A-815C-DEBA-A309-08BC495CB1A5}"/>
              </a:ext>
            </a:extLst>
          </p:cNvPr>
          <p:cNvSpPr txBox="1"/>
          <p:nvPr/>
        </p:nvSpPr>
        <p:spPr>
          <a:xfrm>
            <a:off x="531609" y="4584289"/>
            <a:ext cx="1000664" cy="246221"/>
          </a:xfrm>
          <a:prstGeom prst="rect">
            <a:avLst/>
          </a:prstGeom>
          <a:noFill/>
        </p:spPr>
        <p:txBody>
          <a:bodyPr wrap="square" rtlCol="0">
            <a:spAutoFit/>
          </a:bodyPr>
          <a:lstStyle/>
          <a:p>
            <a:r>
              <a:rPr lang="en-US" sz="1000" dirty="0"/>
              <a:t>Full Context</a:t>
            </a:r>
          </a:p>
        </p:txBody>
      </p:sp>
    </p:spTree>
    <p:extLst>
      <p:ext uri="{BB962C8B-B14F-4D97-AF65-F5344CB8AC3E}">
        <p14:creationId xmlns:p14="http://schemas.microsoft.com/office/powerpoint/2010/main" val="98780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F1201-1161-3A93-C3E4-DEB79A9FE3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BAFA7-7665-AC03-1EAE-2AA2B6CC867D}"/>
              </a:ext>
            </a:extLst>
          </p:cNvPr>
          <p:cNvSpPr>
            <a:spLocks noGrp="1"/>
          </p:cNvSpPr>
          <p:nvPr>
            <p:ph type="title"/>
          </p:nvPr>
        </p:nvSpPr>
        <p:spPr/>
        <p:txBody>
          <a:bodyPr/>
          <a:lstStyle/>
          <a:p>
            <a:r>
              <a:rPr lang="en-US" dirty="0"/>
              <a:t>Suggestions for Improvement</a:t>
            </a:r>
          </a:p>
        </p:txBody>
      </p:sp>
    </p:spTree>
    <p:extLst>
      <p:ext uri="{BB962C8B-B14F-4D97-AF65-F5344CB8AC3E}">
        <p14:creationId xmlns:p14="http://schemas.microsoft.com/office/powerpoint/2010/main" val="2653407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8453-F030-882B-B2D6-3A3494F495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BCA99-F3F6-0704-4484-CDDDC85E4D4C}"/>
              </a:ext>
            </a:extLst>
          </p:cNvPr>
          <p:cNvSpPr>
            <a:spLocks noGrp="1"/>
          </p:cNvSpPr>
          <p:nvPr>
            <p:ph type="title"/>
          </p:nvPr>
        </p:nvSpPr>
        <p:spPr/>
        <p:txBody>
          <a:bodyPr/>
          <a:lstStyle/>
          <a:p>
            <a:r>
              <a:rPr lang="en-US" dirty="0"/>
              <a:t>Suggestions for Improvement: Cancer Prognosis</a:t>
            </a:r>
          </a:p>
        </p:txBody>
      </p:sp>
      <p:sp>
        <p:nvSpPr>
          <p:cNvPr id="3" name="Content Placeholder 2">
            <a:extLst>
              <a:ext uri="{FF2B5EF4-FFF2-40B4-BE49-F238E27FC236}">
                <a16:creationId xmlns:a16="http://schemas.microsoft.com/office/drawing/2014/main" id="{606B80EB-A07F-9166-6574-B5A6112896CC}"/>
              </a:ext>
            </a:extLst>
          </p:cNvPr>
          <p:cNvSpPr>
            <a:spLocks noGrp="1"/>
          </p:cNvSpPr>
          <p:nvPr>
            <p:ph idx="1"/>
          </p:nvPr>
        </p:nvSpPr>
        <p:spPr>
          <a:xfrm>
            <a:off x="838200" y="2360083"/>
            <a:ext cx="10251831" cy="2900892"/>
          </a:xfrm>
        </p:spPr>
        <p:txBody>
          <a:bodyPr>
            <a:normAutofit/>
          </a:bodyPr>
          <a:lstStyle/>
          <a:p>
            <a:r>
              <a:rPr lang="en-US" sz="1433" dirty="0"/>
              <a:t>Discuss potential for risk of cancer death, metastasis, or progression (to achieve score of 1)</a:t>
            </a:r>
          </a:p>
          <a:p>
            <a:r>
              <a:rPr lang="en-US" sz="1433" dirty="0"/>
              <a:t>Provide a generalization of magnitude of risk (“high”/”low”) (to achieve a score of 2)</a:t>
            </a:r>
          </a:p>
          <a:p>
            <a:pPr marL="152385" indent="-152385"/>
            <a:r>
              <a:rPr lang="en-US" sz="1433" dirty="0"/>
              <a:t>Provide a quantified estimate of risk (to achieve a score of 3)</a:t>
            </a:r>
          </a:p>
          <a:p>
            <a:pPr marL="152385" indent="-152385"/>
            <a:r>
              <a:rPr lang="en-US" sz="1433" dirty="0"/>
              <a:t>Provide a quantified estimate of risk both with treatment and without treatment at an arbitrary timepoint (to achieve score of 4)</a:t>
            </a:r>
          </a:p>
          <a:p>
            <a:pPr marL="152385" indent="-152385"/>
            <a:r>
              <a:rPr lang="en-US" sz="1433" dirty="0"/>
              <a:t>Provide a quantified estimates of risk both with and without treatment at the patient’s life expectancy (to achieve score of 5)</a:t>
            </a:r>
          </a:p>
          <a:p>
            <a:endParaRPr lang="en-US" dirty="0"/>
          </a:p>
          <a:p>
            <a:pPr marL="0" indent="0">
              <a:buNone/>
            </a:pPr>
            <a:endParaRPr lang="en-US" dirty="0"/>
          </a:p>
        </p:txBody>
      </p:sp>
    </p:spTree>
    <p:extLst>
      <p:ext uri="{BB962C8B-B14F-4D97-AF65-F5344CB8AC3E}">
        <p14:creationId xmlns:p14="http://schemas.microsoft.com/office/powerpoint/2010/main" val="2747482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EDDA4-0AC9-8FF8-6783-B7DFC4D0E593}"/>
              </a:ext>
            </a:extLst>
          </p:cNvPr>
          <p:cNvSpPr>
            <a:spLocks noGrp="1"/>
          </p:cNvSpPr>
          <p:nvPr>
            <p:ph type="title"/>
          </p:nvPr>
        </p:nvSpPr>
        <p:spPr/>
        <p:txBody>
          <a:bodyPr/>
          <a:lstStyle/>
          <a:p>
            <a:r>
              <a:rPr lang="en-US" dirty="0"/>
              <a:t>Suggestions for Improvement: Life Expectancy </a:t>
            </a:r>
          </a:p>
        </p:txBody>
      </p:sp>
      <p:sp>
        <p:nvSpPr>
          <p:cNvPr id="3" name="Content Placeholder 2">
            <a:extLst>
              <a:ext uri="{FF2B5EF4-FFF2-40B4-BE49-F238E27FC236}">
                <a16:creationId xmlns:a16="http://schemas.microsoft.com/office/drawing/2014/main" id="{F21AEDA4-1BD6-48F7-720D-9024295AD366}"/>
              </a:ext>
            </a:extLst>
          </p:cNvPr>
          <p:cNvSpPr>
            <a:spLocks noGrp="1"/>
          </p:cNvSpPr>
          <p:nvPr>
            <p:ph idx="1"/>
          </p:nvPr>
        </p:nvSpPr>
        <p:spPr>
          <a:xfrm>
            <a:off x="838200" y="2360083"/>
            <a:ext cx="10251831" cy="2900892"/>
          </a:xfrm>
        </p:spPr>
        <p:txBody>
          <a:bodyPr>
            <a:normAutofit/>
          </a:bodyPr>
          <a:lstStyle/>
          <a:p>
            <a:r>
              <a:rPr lang="en-US" sz="1433" dirty="0"/>
              <a:t>Discuss the concept of competing risks of mortality (to achieve score of 1)</a:t>
            </a:r>
          </a:p>
          <a:p>
            <a:r>
              <a:rPr lang="en-US" sz="1433" dirty="0"/>
              <a:t>Provide a generalization of duration of life expectancy (i.e., “long”/”short”) (to achieve a score of 2)</a:t>
            </a:r>
          </a:p>
          <a:p>
            <a:pPr marL="152385" indent="-152385"/>
            <a:r>
              <a:rPr lang="en-US" sz="1433" dirty="0"/>
              <a:t>Provide a rough quantified estimate of life expectancy (e.g., “about 15-20 years”) (to achieve a score of 3)</a:t>
            </a:r>
          </a:p>
          <a:p>
            <a:pPr marL="152385" indent="-152385"/>
            <a:r>
              <a:rPr lang="en-US" sz="1433" dirty="0"/>
              <a:t>Provide a probability of living to an arbitrary timepoint (to achieve score of 4)</a:t>
            </a:r>
          </a:p>
          <a:p>
            <a:pPr marL="152385" indent="-152385"/>
            <a:r>
              <a:rPr lang="en-US" sz="1433" dirty="0"/>
              <a:t>Provide a specific number of years and mention calculation based on the patient’s age and health status (to achieve score of 5)</a:t>
            </a:r>
          </a:p>
          <a:p>
            <a:endParaRPr lang="en-US" dirty="0"/>
          </a:p>
          <a:p>
            <a:pPr marL="0" indent="0">
              <a:buNone/>
            </a:pPr>
            <a:endParaRPr lang="en-US" dirty="0"/>
          </a:p>
        </p:txBody>
      </p:sp>
    </p:spTree>
    <p:extLst>
      <p:ext uri="{BB962C8B-B14F-4D97-AF65-F5344CB8AC3E}">
        <p14:creationId xmlns:p14="http://schemas.microsoft.com/office/powerpoint/2010/main" val="2351183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EF772-640B-D7C9-F432-A0FF0765D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CCBC6-4B90-5FC7-CE57-CA544396D1F0}"/>
              </a:ext>
            </a:extLst>
          </p:cNvPr>
          <p:cNvSpPr>
            <a:spLocks noGrp="1"/>
          </p:cNvSpPr>
          <p:nvPr>
            <p:ph type="title"/>
          </p:nvPr>
        </p:nvSpPr>
        <p:spPr/>
        <p:txBody>
          <a:bodyPr/>
          <a:lstStyle/>
          <a:p>
            <a:r>
              <a:rPr lang="en-US" dirty="0"/>
              <a:t>Suggestions for Improvement: Erectile Dysfunction</a:t>
            </a:r>
          </a:p>
        </p:txBody>
      </p:sp>
      <p:sp>
        <p:nvSpPr>
          <p:cNvPr id="3" name="Content Placeholder 2">
            <a:extLst>
              <a:ext uri="{FF2B5EF4-FFF2-40B4-BE49-F238E27FC236}">
                <a16:creationId xmlns:a16="http://schemas.microsoft.com/office/drawing/2014/main" id="{47E17692-EE2A-5E61-63F8-60E22FA0198B}"/>
              </a:ext>
            </a:extLst>
          </p:cNvPr>
          <p:cNvSpPr>
            <a:spLocks noGrp="1"/>
          </p:cNvSpPr>
          <p:nvPr>
            <p:ph idx="1"/>
          </p:nvPr>
        </p:nvSpPr>
        <p:spPr>
          <a:xfrm>
            <a:off x="838200" y="2360083"/>
            <a:ext cx="10251831" cy="2900892"/>
          </a:xfrm>
        </p:spPr>
        <p:txBody>
          <a:bodyPr>
            <a:normAutofit/>
          </a:bodyPr>
          <a:lstStyle/>
          <a:p>
            <a:r>
              <a:rPr lang="en-US" sz="1433" dirty="0"/>
              <a:t>Discuss the potential risk of erectile dysfunction (to achieve score of 1)</a:t>
            </a:r>
          </a:p>
          <a:p>
            <a:r>
              <a:rPr lang="en-US" sz="1433" dirty="0"/>
              <a:t>Provide a generalization of risk (i.e., “high”/”low”) (to achieve a score of 2)</a:t>
            </a:r>
          </a:p>
          <a:p>
            <a:pPr marL="152385" indent="-152385"/>
            <a:r>
              <a:rPr lang="en-US" sz="1433" dirty="0"/>
              <a:t>Provide an average probability of ED without a time horizon (e.g., “45% risk of erectile dysfunction”) (to achieve a score of 3)</a:t>
            </a:r>
          </a:p>
          <a:p>
            <a:pPr marL="152385" indent="-152385"/>
            <a:r>
              <a:rPr lang="en-US" sz="1433" dirty="0"/>
              <a:t>Provide an average probability of ED with a time horizon (e.g., “45% risk of erectile dysfunction at 1 year postop”) (to achieve a score of 4)</a:t>
            </a:r>
          </a:p>
          <a:p>
            <a:pPr marL="152385" indent="-152385"/>
            <a:r>
              <a:rPr lang="en-US" sz="1433" dirty="0"/>
              <a:t>Provide a patient-specific probability of ED with a time horizon, mentioning patient-specific factors such as age and baseline function that inform your estimate (to achieve score of 5)</a:t>
            </a:r>
          </a:p>
          <a:p>
            <a:endParaRPr lang="en-US" sz="1433" dirty="0"/>
          </a:p>
          <a:p>
            <a:pPr marL="0" indent="0">
              <a:buNone/>
            </a:pPr>
            <a:endParaRPr lang="en-US" dirty="0"/>
          </a:p>
        </p:txBody>
      </p:sp>
    </p:spTree>
    <p:extLst>
      <p:ext uri="{BB962C8B-B14F-4D97-AF65-F5344CB8AC3E}">
        <p14:creationId xmlns:p14="http://schemas.microsoft.com/office/powerpoint/2010/main" val="314758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3CCC2-579A-6CCC-0EEB-88455A952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E6A08-C01A-53BE-31EE-E11037CEFA25}"/>
              </a:ext>
            </a:extLst>
          </p:cNvPr>
          <p:cNvSpPr>
            <a:spLocks noGrp="1"/>
          </p:cNvSpPr>
          <p:nvPr>
            <p:ph type="title"/>
          </p:nvPr>
        </p:nvSpPr>
        <p:spPr/>
        <p:txBody>
          <a:bodyPr/>
          <a:lstStyle/>
          <a:p>
            <a:r>
              <a:rPr lang="en-US" dirty="0"/>
              <a:t>Suggestions for Improvement: Urinary Incontinence</a:t>
            </a:r>
          </a:p>
        </p:txBody>
      </p:sp>
      <p:sp>
        <p:nvSpPr>
          <p:cNvPr id="3" name="Content Placeholder 2">
            <a:extLst>
              <a:ext uri="{FF2B5EF4-FFF2-40B4-BE49-F238E27FC236}">
                <a16:creationId xmlns:a16="http://schemas.microsoft.com/office/drawing/2014/main" id="{F2A35A50-9EC6-9B78-11DF-B29CA351F9E2}"/>
              </a:ext>
            </a:extLst>
          </p:cNvPr>
          <p:cNvSpPr>
            <a:spLocks noGrp="1"/>
          </p:cNvSpPr>
          <p:nvPr>
            <p:ph idx="1"/>
          </p:nvPr>
        </p:nvSpPr>
        <p:spPr>
          <a:xfrm>
            <a:off x="838200" y="2360083"/>
            <a:ext cx="10251831" cy="2900892"/>
          </a:xfrm>
        </p:spPr>
        <p:txBody>
          <a:bodyPr>
            <a:normAutofit/>
          </a:bodyPr>
          <a:lstStyle/>
          <a:p>
            <a:r>
              <a:rPr lang="en-US" sz="1433" dirty="0"/>
              <a:t>Discuss the potential risk of urinary incontinence (to achieve score of 1)</a:t>
            </a:r>
          </a:p>
          <a:p>
            <a:r>
              <a:rPr lang="en-US" sz="1433" dirty="0"/>
              <a:t>Provide a generalization of risk (i.e., “high”/”low”) (to achieve a score of 2)</a:t>
            </a:r>
          </a:p>
          <a:p>
            <a:pPr marL="152385" indent="-152385"/>
            <a:r>
              <a:rPr lang="en-US" sz="1433" dirty="0"/>
              <a:t>Provide an average probability of UI without a time horizon (e.g., “10% risk of needing pads”) (to achieve a score of 3)</a:t>
            </a:r>
          </a:p>
          <a:p>
            <a:pPr marL="152385" indent="-152385"/>
            <a:r>
              <a:rPr lang="en-US" sz="1433" dirty="0"/>
              <a:t>Provide an average probability of UI with a time horizon (e.g., “10% risk of needing pads beyond 1 year postop”) (to achieve a score of 4)</a:t>
            </a:r>
          </a:p>
          <a:p>
            <a:pPr marL="152385" indent="-152385"/>
            <a:r>
              <a:rPr lang="en-US" sz="1433" dirty="0"/>
              <a:t>Provide a patient-specific probability of UI with a time horizon, mentioning patient-specific factors such as age and baseline function that inform your estimate (to achieve score of 5)</a:t>
            </a:r>
          </a:p>
          <a:p>
            <a:endParaRPr lang="en-US" sz="1433" dirty="0"/>
          </a:p>
          <a:p>
            <a:pPr marL="0" indent="0">
              <a:buNone/>
            </a:pPr>
            <a:endParaRPr lang="en-US" dirty="0"/>
          </a:p>
        </p:txBody>
      </p:sp>
    </p:spTree>
    <p:extLst>
      <p:ext uri="{BB962C8B-B14F-4D97-AF65-F5344CB8AC3E}">
        <p14:creationId xmlns:p14="http://schemas.microsoft.com/office/powerpoint/2010/main" val="29178494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CD9F9-8124-BDDC-CC01-1E910392E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F39E63-35AD-8C34-D4F0-E95E39FC518A}"/>
              </a:ext>
            </a:extLst>
          </p:cNvPr>
          <p:cNvSpPr>
            <a:spLocks noGrp="1"/>
          </p:cNvSpPr>
          <p:nvPr>
            <p:ph type="title"/>
          </p:nvPr>
        </p:nvSpPr>
        <p:spPr/>
        <p:txBody>
          <a:bodyPr/>
          <a:lstStyle/>
          <a:p>
            <a:r>
              <a:rPr lang="en-US" dirty="0"/>
              <a:t>Suggestions for Improvement: Irritative Urinary Symptoms</a:t>
            </a:r>
          </a:p>
        </p:txBody>
      </p:sp>
      <p:sp>
        <p:nvSpPr>
          <p:cNvPr id="3" name="Content Placeholder 2">
            <a:extLst>
              <a:ext uri="{FF2B5EF4-FFF2-40B4-BE49-F238E27FC236}">
                <a16:creationId xmlns:a16="http://schemas.microsoft.com/office/drawing/2014/main" id="{4F0443D8-73C0-FC95-305E-09D6BFE0679A}"/>
              </a:ext>
            </a:extLst>
          </p:cNvPr>
          <p:cNvSpPr>
            <a:spLocks noGrp="1"/>
          </p:cNvSpPr>
          <p:nvPr>
            <p:ph idx="1"/>
          </p:nvPr>
        </p:nvSpPr>
        <p:spPr>
          <a:xfrm>
            <a:off x="838200" y="2360083"/>
            <a:ext cx="10251831" cy="2900892"/>
          </a:xfrm>
        </p:spPr>
        <p:txBody>
          <a:bodyPr>
            <a:normAutofit/>
          </a:bodyPr>
          <a:lstStyle/>
          <a:p>
            <a:r>
              <a:rPr lang="en-US" sz="1433" dirty="0"/>
              <a:t>Discuss the potential risk of irritative urinary symptoms (to achieve score of 1)</a:t>
            </a:r>
          </a:p>
          <a:p>
            <a:r>
              <a:rPr lang="en-US" sz="1433" dirty="0"/>
              <a:t>Provide a generalization of risk (i.e., “high”/”low”) (to achieve a score of 2)</a:t>
            </a:r>
          </a:p>
          <a:p>
            <a:pPr marL="152385" indent="-152385"/>
            <a:r>
              <a:rPr lang="en-US" sz="1433" dirty="0"/>
              <a:t>Provide an average probability of LUTS without a time horizon (e.g., “30% risk of developing irritative urinary symptoms”) (to achieve a score of 3)</a:t>
            </a:r>
          </a:p>
          <a:p>
            <a:pPr marL="152385" indent="-152385"/>
            <a:r>
              <a:rPr lang="en-US" sz="1433" dirty="0"/>
              <a:t>Provide an average probability of LUTS with a time horizon (e.g., “30% risk of developing irritative urinary symptoms that may or may not resolve over the following year”) (to achieve a score of 4)</a:t>
            </a:r>
          </a:p>
          <a:p>
            <a:pPr marL="152385" indent="-152385"/>
            <a:r>
              <a:rPr lang="en-US" sz="1433" dirty="0"/>
              <a:t>Provide a patient-specific probability of LUTS with a time horizon, mentioning patient-specific factors such as age and baseline function that inform your estimate (to achieve score of 5)</a:t>
            </a:r>
          </a:p>
          <a:p>
            <a:endParaRPr lang="en-US" sz="1433" dirty="0"/>
          </a:p>
          <a:p>
            <a:pPr marL="0" indent="0">
              <a:buNone/>
            </a:pPr>
            <a:endParaRPr lang="en-US" dirty="0"/>
          </a:p>
        </p:txBody>
      </p:sp>
    </p:spTree>
    <p:extLst>
      <p:ext uri="{BB962C8B-B14F-4D97-AF65-F5344CB8AC3E}">
        <p14:creationId xmlns:p14="http://schemas.microsoft.com/office/powerpoint/2010/main" val="1166606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1661</TotalTime>
  <Words>1381</Words>
  <Application>Microsoft Macintosh PowerPoint</Application>
  <PresentationFormat>Widescreen</PresentationFormat>
  <Paragraphs>83</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Aptos Display</vt:lpstr>
      <vt:lpstr>Arial</vt:lpstr>
      <vt:lpstr>Office Theme</vt:lpstr>
      <vt:lpstr>Patient and Physician Reports: Data Visualization Plan</vt:lpstr>
      <vt:lpstr>Cluster Randomized Trial of NLP+AI-Based Feedback from Prostate Cancer Consultations </vt:lpstr>
      <vt:lpstr>Patient Reports</vt:lpstr>
      <vt:lpstr>PowerPoint Presentation</vt:lpstr>
      <vt:lpstr>PowerPoint Presentation</vt:lpstr>
      <vt:lpstr>Patient Report</vt:lpstr>
      <vt:lpstr>Physician Reports</vt:lpstr>
      <vt:lpstr>Physician Report</vt:lpstr>
      <vt:lpstr>Grid summary</vt:lpstr>
      <vt:lpstr>PowerPoint Presentation</vt:lpstr>
      <vt:lpstr>Suggestions for Improvement</vt:lpstr>
      <vt:lpstr>Suggestions for Improvement: Cancer Prognosis</vt:lpstr>
      <vt:lpstr>Suggestions for Improvement: Life Expectancy </vt:lpstr>
      <vt:lpstr>Suggestions for Improvement: Erectile Dysfunction</vt:lpstr>
      <vt:lpstr>Suggestions for Improvement: Urinary Incontinence</vt:lpstr>
      <vt:lpstr>Suggestions for Improvement: Irritative Urinary Symptoms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 Daskivich</dc:creator>
  <cp:lastModifiedBy>Choi, Hyunjun</cp:lastModifiedBy>
  <cp:revision>10</cp:revision>
  <dcterms:created xsi:type="dcterms:W3CDTF">2025-05-06T17:45:55Z</dcterms:created>
  <dcterms:modified xsi:type="dcterms:W3CDTF">2025-09-04T17:20:41Z</dcterms:modified>
</cp:coreProperties>
</file>