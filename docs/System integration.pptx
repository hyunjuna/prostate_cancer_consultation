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0" r:id="rId4"/>
    <p:sldId id="261" r:id="rId5"/>
    <p:sldId id="262" r:id="rId6"/>
    <p:sldId id="268" r:id="rId7"/>
    <p:sldId id="263" r:id="rId8"/>
    <p:sldId id="264" r:id="rId9"/>
    <p:sldId id="265" r:id="rId10"/>
    <p:sldId id="266" r:id="rId11"/>
    <p:sldId id="267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7"/>
    <p:restoredTop sz="82663"/>
  </p:normalViewPr>
  <p:slideViewPr>
    <p:cSldViewPr snapToGrid="0">
      <p:cViewPr>
        <p:scale>
          <a:sx n="75" d="100"/>
          <a:sy n="75" d="100"/>
        </p:scale>
        <p:origin x="2488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AC8A4-5040-49BB-BA8A-24CDD3F1D80B}" type="datetimeFigureOut"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7CDDC-1A40-4D2B-96DB-7BA1A6B176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2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Main Questions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Are we using </a:t>
            </a:r>
            <a:r>
              <a:rPr lang="en-US" dirty="0" err="1"/>
              <a:t>REDCap</a:t>
            </a:r>
            <a:r>
              <a:rPr lang="en-US" dirty="0"/>
              <a:t>? Where should the </a:t>
            </a:r>
            <a:r>
              <a:rPr lang="en-US" dirty="0" err="1"/>
              <a:t>REDCap</a:t>
            </a:r>
            <a:r>
              <a:rPr lang="en-US" dirty="0"/>
              <a:t> be located in the diagram?</a:t>
            </a:r>
            <a:r>
              <a:rPr lang="ko-KR" altLang="en-US" dirty="0"/>
              <a:t> 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Overall, where are the data related to patients, physicians, and AI-generated outputs stored, respectively?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What are the input and output data for each AI model, and where are these input and output data stored?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From which storage does the web app retrieve data, and to which storage does it save data?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7CDDC-1A40-4D2B-96DB-7BA1A6B1765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29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>
                <a:solidFill>
                  <a:srgbClr val="FF0000"/>
                </a:solidFill>
              </a:rPr>
              <a:t>Patent scoring of the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7CDDC-1A40-4D2B-96DB-7BA1A6B176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26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patients’ responses to questions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7CDDC-1A40-4D2B-96DB-7BA1A6B176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44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7CDDC-1A40-4D2B-96DB-7BA1A6B176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2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5949-E10B-239B-170C-2DD64DB9B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BE78A-FBA1-85D9-5DEC-36D2C86B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77565-0489-507A-679B-873850D2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B925C-BA38-6F22-61AD-AF01E8D7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3EB8F-B5A9-4A77-4A84-D04F0F52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9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8A6C-6FE1-1011-E5C8-7239DF1C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E0167-4708-8F70-ED68-F3F0601F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F2F22-5A1F-9A7B-89C2-96C771B2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35E03-A371-CF28-B504-E26336CA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64D2-617D-8699-FC63-CDCCF66B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9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CF7C-0F4D-D2B2-5CD0-C6B9526C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1CF81-448A-8E29-0D3A-B385D108E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1AF4-12D5-66F4-EF20-1ECE844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D208B-07BA-35A9-2C80-919E6D3F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209FF-8680-3467-69CB-86E69D64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0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4D6B-4352-357F-843C-5723FD07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DDD9-263A-59E8-B6BF-79380115B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7BEB3-D9D6-CC44-5E3E-12869D58A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13CA9-EC8D-4E61-558D-0589BA58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55AFA-74E5-9807-5E31-185B1B7A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0E77-D824-E64A-F38E-E5DC42E2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6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D9E8-813E-66B4-DBEA-D2C55CC0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D16A3-151A-1ECD-7274-1C9562B96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F578F-E7AC-6540-48DE-3A96E20A6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877AD-065A-C01F-609C-8E0C22C9F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62ED3-7E8F-D275-6EE6-9C8FF8659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462F8-EEAA-752A-CE39-E997426B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CE1C3A-A6F4-7BC9-5C17-D201CED2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D9F32-7ADC-2634-D5BF-876783F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9E00-7E5F-9A14-82EE-DF6E01B2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A416D-B21F-4AE4-014C-5B53871EC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55F14-B433-1858-B3BF-F3617C3B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2D404-728D-E130-C715-CDB17E2B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1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07193-0475-3189-76A9-0A72629E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27A0C-FD1F-C2A1-4084-0AFD6563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4300E-0A1A-5725-54DE-FEECE785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8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458C-F7D5-B460-F072-F01E2637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421D-2E1A-720D-AEC1-F576F43D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F2D4E-9EF0-D366-E32B-886746868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3D8AE-2F35-8FE2-A4A7-B07E7DB6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76AE3-AAE9-206C-7A0B-21397AF9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7A5E5-1E9D-DCBE-536D-10FB058C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9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A9BD-8EB4-30A8-B5F7-282AA5E7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319E3-6027-77BF-C13B-B32616073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5A7F8-484D-CADE-24A7-0E45F0B90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DE20-4FFA-421A-94BE-904062B0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2B0DC-DC8B-DE0F-54C8-EE27AEA4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B4D56-2FD8-D231-F031-C454E707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F536-6FA9-6666-0FDC-C8954C72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26615-293D-C018-DF03-53EC782EF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45583-F9FE-BFF1-D805-C9405154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BA88-2D3A-7E16-7EBD-9DDA52FE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61EC6-E087-F22E-AD09-5A1E6EDE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4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4BA43-2E4F-C93E-BB09-E2411F85D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5F352-C93F-65E7-FD0D-4615B4E99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FAF5E-F96A-0506-E1C4-274402BF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3EF2A-4502-7386-B14A-A7B2E67E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3161-66FF-7B36-B792-3003C80D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2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DE737-CD41-934C-F28D-6D9B6F3C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3C84E-62AC-38A9-E4DC-3EC7C212F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EC3C-AED5-67CD-3490-CE01955E0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34850-C55B-F442-B135-F5C17F49823D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BC7A9-DC6E-060C-1BCF-D800CCEB1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BF97-BE7B-4343-2CDC-2B41E284B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507C7-45AE-1041-B419-1586D9DCE4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A65F-7823-6CC8-D82D-C15564564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integration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3952-9E71-3D89-9607-58FA858FF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Raw transcripts</a:t>
            </a:r>
            <a:endParaRPr lang="en-US" b="0" dirty="0">
              <a:effectLst/>
            </a:endParaRPr>
          </a:p>
          <a:p>
            <a:r>
              <a:rPr lang="en-US" dirty="0"/>
              <a:t>Data processing server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Sentence classifier (Michael)</a:t>
            </a:r>
          </a:p>
          <a:p>
            <a:pPr lvl="2"/>
            <a:r>
              <a:rPr lang="en-US" dirty="0"/>
              <a:t>Cancer Prognosis</a:t>
            </a:r>
          </a:p>
          <a:p>
            <a:pPr lvl="2"/>
            <a:r>
              <a:rPr lang="en-US" dirty="0"/>
              <a:t>Life Expectancy</a:t>
            </a:r>
          </a:p>
          <a:p>
            <a:pPr lvl="2"/>
            <a:r>
              <a:rPr lang="en-US" dirty="0"/>
              <a:t>Erectile Dysfunction</a:t>
            </a:r>
          </a:p>
          <a:p>
            <a:pPr lvl="2"/>
            <a:r>
              <a:rPr lang="en-US" dirty="0"/>
              <a:t>Urinary Incontinence</a:t>
            </a:r>
          </a:p>
          <a:p>
            <a:pPr lvl="2"/>
            <a:r>
              <a:rPr lang="en-US" dirty="0"/>
              <a:t>Irritative Urinary Symptoms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AI scoring (Guille)</a:t>
            </a:r>
            <a:endParaRPr lang="en-US" b="0" dirty="0">
              <a:effectLst/>
            </a:endParaRPr>
          </a:p>
          <a:p>
            <a:pPr lvl="1"/>
            <a:r>
              <a:rPr lang="en-US" dirty="0"/>
              <a:t>AI Summary/Rewriting (Guille)</a:t>
            </a:r>
            <a:endParaRPr lang="en-US" b="0" dirty="0">
              <a:effectLst/>
            </a:endParaRPr>
          </a:p>
          <a:p>
            <a:r>
              <a:rPr lang="en-US" dirty="0"/>
              <a:t>Database/</a:t>
            </a:r>
            <a:r>
              <a:rPr lang="en-US" strike="sngStrike" dirty="0"/>
              <a:t>File system</a:t>
            </a:r>
          </a:p>
          <a:p>
            <a:r>
              <a:rPr lang="en-US" dirty="0"/>
              <a:t>Dashboard</a:t>
            </a:r>
          </a:p>
          <a:p>
            <a:pPr lvl="1"/>
            <a:r>
              <a:rPr lang="en-US" dirty="0"/>
              <a:t>Identifiers</a:t>
            </a:r>
          </a:p>
          <a:p>
            <a:pPr lvl="1"/>
            <a:r>
              <a:rPr lang="en-US" dirty="0"/>
              <a:t>Processed information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B815C-352D-B7AE-6661-20D9FE7A1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481" y="1825625"/>
            <a:ext cx="6899620" cy="393917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35D844-37A5-3BCC-19C3-4678CE6814C7}"/>
              </a:ext>
            </a:extLst>
          </p:cNvPr>
          <p:cNvCxnSpPr>
            <a:cxnSpLocks/>
          </p:cNvCxnSpPr>
          <p:nvPr/>
        </p:nvCxnSpPr>
        <p:spPr>
          <a:xfrm>
            <a:off x="8382000" y="3022600"/>
            <a:ext cx="0" cy="211695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AB06E-F7FE-FDC7-5B9E-02B7E76E8248}"/>
              </a:ext>
            </a:extLst>
          </p:cNvPr>
          <p:cNvCxnSpPr/>
          <p:nvPr/>
        </p:nvCxnSpPr>
        <p:spPr>
          <a:xfrm>
            <a:off x="7481024" y="2999042"/>
            <a:ext cx="14639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02C0FA-B5E2-028E-704E-2BDAB4D17193}"/>
              </a:ext>
            </a:extLst>
          </p:cNvPr>
          <p:cNvSpPr txBox="1"/>
          <p:nvPr/>
        </p:nvSpPr>
        <p:spPr>
          <a:xfrm>
            <a:off x="8627291" y="5139559"/>
            <a:ext cx="837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Patient ID</a:t>
            </a:r>
          </a:p>
        </p:txBody>
      </p:sp>
    </p:spTree>
    <p:extLst>
      <p:ext uri="{BB962C8B-B14F-4D97-AF65-F5344CB8AC3E}">
        <p14:creationId xmlns:p14="http://schemas.microsoft.com/office/powerpoint/2010/main" val="243399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98E7-8271-2296-C13C-D0448E45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D5CE31B-395B-ABC9-42A1-6AF713E65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605264"/>
              </p:ext>
            </p:extLst>
          </p:nvPr>
        </p:nvGraphicFramePr>
        <p:xfrm>
          <a:off x="838200" y="1873851"/>
          <a:ext cx="10515601" cy="38358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53554">
                  <a:extLst>
                    <a:ext uri="{9D8B030D-6E8A-4147-A177-3AD203B41FA5}">
                      <a16:colId xmlns:a16="http://schemas.microsoft.com/office/drawing/2014/main" val="3345111537"/>
                    </a:ext>
                  </a:extLst>
                </a:gridCol>
                <a:gridCol w="148463">
                  <a:extLst>
                    <a:ext uri="{9D8B030D-6E8A-4147-A177-3AD203B41FA5}">
                      <a16:colId xmlns:a16="http://schemas.microsoft.com/office/drawing/2014/main" val="24529108"/>
                    </a:ext>
                  </a:extLst>
                </a:gridCol>
                <a:gridCol w="112832">
                  <a:extLst>
                    <a:ext uri="{9D8B030D-6E8A-4147-A177-3AD203B41FA5}">
                      <a16:colId xmlns:a16="http://schemas.microsoft.com/office/drawing/2014/main" val="3669700545"/>
                    </a:ext>
                  </a:extLst>
                </a:gridCol>
                <a:gridCol w="967976">
                  <a:extLst>
                    <a:ext uri="{9D8B030D-6E8A-4147-A177-3AD203B41FA5}">
                      <a16:colId xmlns:a16="http://schemas.microsoft.com/office/drawing/2014/main" val="2647872111"/>
                    </a:ext>
                  </a:extLst>
                </a:gridCol>
                <a:gridCol w="7357802">
                  <a:extLst>
                    <a:ext uri="{9D8B030D-6E8A-4147-A177-3AD203B41FA5}">
                      <a16:colId xmlns:a16="http://schemas.microsoft.com/office/drawing/2014/main" val="951889693"/>
                    </a:ext>
                  </a:extLst>
                </a:gridCol>
                <a:gridCol w="387487">
                  <a:extLst>
                    <a:ext uri="{9D8B030D-6E8A-4147-A177-3AD203B41FA5}">
                      <a16:colId xmlns:a16="http://schemas.microsoft.com/office/drawing/2014/main" val="3249813846"/>
                    </a:ext>
                  </a:extLst>
                </a:gridCol>
                <a:gridCol w="387487">
                  <a:extLst>
                    <a:ext uri="{9D8B030D-6E8A-4147-A177-3AD203B41FA5}">
                      <a16:colId xmlns:a16="http://schemas.microsoft.com/office/drawing/2014/main" val="2181587544"/>
                    </a:ext>
                  </a:extLst>
                </a:gridCol>
              </a:tblGrid>
              <a:tr h="9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file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i2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speaker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sentences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score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class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extLst>
                  <a:ext uri="{0D108BD9-81ED-4DB2-BD59-A6C34878D82A}">
                    <a16:rowId xmlns:a16="http://schemas.microsoft.com/office/drawing/2014/main" val="2511591641"/>
                  </a:ext>
                </a:extLst>
              </a:tr>
              <a:tr h="9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quality-coded-nlp-pilot-sid-1.xlsx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Interviewer: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this is rolling.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extLst>
                  <a:ext uri="{0D108BD9-81ED-4DB2-BD59-A6C34878D82A}">
                    <a16:rowId xmlns:a16="http://schemas.microsoft.com/office/drawing/2014/main" val="1679685801"/>
                  </a:ext>
                </a:extLst>
              </a:tr>
              <a:tr h="9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quality-coded-nlp-pilot-sid-1.xlsx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Interviewer: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excellent, okay.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extLst>
                  <a:ext uri="{0D108BD9-81ED-4DB2-BD59-A6C34878D82A}">
                    <a16:rowId xmlns:a16="http://schemas.microsoft.com/office/drawing/2014/main" val="1337741822"/>
                  </a:ext>
                </a:extLst>
              </a:tr>
              <a:tr h="95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quality-coded-nlp-pilot-sid-1.xlsx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Interviewer: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so, thank you for bringing everything in advance here, and i also read your note from ucla, so i think i know whatís going with you two.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6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56" marR="4456" marT="4456" marB="0" anchor="b"/>
                </a:tc>
                <a:extLst>
                  <a:ext uri="{0D108BD9-81ED-4DB2-BD59-A6C34878D82A}">
                    <a16:rowId xmlns:a16="http://schemas.microsoft.com/office/drawing/2014/main" val="38628355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002D97A-9A57-C9FA-D9CD-9F7E6CB6DE46}"/>
              </a:ext>
            </a:extLst>
          </p:cNvPr>
          <p:cNvSpPr txBox="1"/>
          <p:nvPr/>
        </p:nvSpPr>
        <p:spPr>
          <a:xfrm>
            <a:off x="838200" y="2440598"/>
            <a:ext cx="1051560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</a:p>
          <a:p>
            <a:pPr lvl="1">
              <a:defRPr/>
            </a:pP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file,</a:t>
            </a:r>
            <a:r>
              <a:rPr lang="en-US" b="1" dirty="0">
                <a:effectLst/>
              </a:rPr>
              <a:t> </a:t>
            </a:r>
            <a:r>
              <a:rPr lang="en-US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b="1" dirty="0">
                <a:effectLst/>
              </a:rPr>
              <a:t> </a:t>
            </a: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i2,</a:t>
            </a:r>
            <a:r>
              <a:rPr lang="en-US" b="1" dirty="0">
                <a:effectLst/>
              </a:rPr>
              <a:t> </a:t>
            </a: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speaker,</a:t>
            </a:r>
            <a:r>
              <a:rPr lang="en-US" b="1" dirty="0">
                <a:effectLst/>
              </a:rPr>
              <a:t> </a:t>
            </a: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sentences,</a:t>
            </a:r>
            <a:r>
              <a:rPr lang="en-US" b="1" dirty="0">
                <a:effectLst/>
              </a:rPr>
              <a:t> </a:t>
            </a:r>
            <a:r>
              <a:rPr lang="en-US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dirty="0">
                <a:effectLst/>
              </a:rPr>
              <a:t> </a:t>
            </a:r>
            <a:r>
              <a:rPr lang="en-US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class, </a:t>
            </a:r>
          </a:p>
          <a:p>
            <a:pPr lvl="1">
              <a:defRPr/>
            </a:pPr>
            <a:r>
              <a:rPr lang="en-US" dirty="0" err="1"/>
              <a:t>이</a:t>
            </a:r>
            <a:r>
              <a:rPr lang="en-US" dirty="0"/>
              <a:t> column file, </a:t>
            </a:r>
            <a:r>
              <a:rPr lang="en-US" dirty="0" err="1"/>
              <a:t>i</a:t>
            </a:r>
            <a:r>
              <a:rPr lang="en-US" dirty="0"/>
              <a:t>, i2</a:t>
            </a:r>
            <a:r>
              <a:rPr lang="en-US" altLang="ko-KR" dirty="0"/>
              <a:t>, speaker</a:t>
            </a:r>
            <a:r>
              <a:rPr lang="ko-KR" altLang="en-US" dirty="0" err="1"/>
              <a:t>를</a:t>
            </a:r>
            <a:r>
              <a:rPr lang="en-US" altLang="ko-KR" dirty="0"/>
              <a:t> </a:t>
            </a:r>
            <a:r>
              <a:rPr lang="ko-KR" altLang="en-US" dirty="0"/>
              <a:t>적절히 사용하여 각 </a:t>
            </a:r>
            <a:r>
              <a:rPr lang="en-US" altLang="ko-KR" dirty="0"/>
              <a:t>sentence</a:t>
            </a:r>
            <a:r>
              <a:rPr lang="ko-KR" altLang="en-US" dirty="0"/>
              <a:t>들을 </a:t>
            </a:r>
            <a:r>
              <a:rPr lang="en-US" altLang="ko-KR" dirty="0"/>
              <a:t>identify </a:t>
            </a:r>
            <a:r>
              <a:rPr lang="ko-KR" altLang="en-US" dirty="0"/>
              <a:t>가능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추가로</a:t>
            </a:r>
            <a:r>
              <a:rPr lang="en-US" altLang="ko-KR" dirty="0"/>
              <a:t> table or DB </a:t>
            </a:r>
            <a:r>
              <a:rPr lang="ko-KR" altLang="en-US" dirty="0"/>
              <a:t>은 </a:t>
            </a:r>
            <a:r>
              <a:rPr lang="en-US" altLang="ko-KR" dirty="0"/>
              <a:t>AI rewriting </a:t>
            </a:r>
            <a:r>
              <a:rPr lang="ko-KR" altLang="en-US" dirty="0"/>
              <a:t>함수를 의사가 사용시 수정된 </a:t>
            </a:r>
            <a:r>
              <a:rPr lang="en-US" altLang="ko-KR" dirty="0"/>
              <a:t>sentences</a:t>
            </a:r>
            <a:r>
              <a:rPr lang="ko-KR" altLang="en-US" dirty="0"/>
              <a:t>들을 시간 별로 기존 문장</a:t>
            </a:r>
            <a:r>
              <a:rPr lang="en-US" altLang="ko-KR" dirty="0"/>
              <a:t>, </a:t>
            </a:r>
            <a:r>
              <a:rPr lang="ko-KR" altLang="en-US" strike="sngStrike" dirty="0"/>
              <a:t>기존 </a:t>
            </a:r>
            <a:r>
              <a:rPr lang="en-US" altLang="ko-KR" strike="sngStrike" dirty="0"/>
              <a:t>class</a:t>
            </a:r>
            <a:r>
              <a:rPr lang="en-US" altLang="ko-KR" dirty="0"/>
              <a:t>,  </a:t>
            </a:r>
            <a:r>
              <a:rPr lang="ko-KR" altLang="en-US" strike="sngStrike" dirty="0"/>
              <a:t>기존 </a:t>
            </a:r>
            <a:r>
              <a:rPr lang="en-US" altLang="ko-KR" strike="sngStrike" dirty="0"/>
              <a:t>score</a:t>
            </a:r>
            <a:r>
              <a:rPr lang="en-US" altLang="ko-KR" dirty="0"/>
              <a:t>, </a:t>
            </a:r>
            <a:r>
              <a:rPr lang="ko-KR" altLang="en-US" dirty="0"/>
              <a:t>그리고 수정된 문장</a:t>
            </a:r>
            <a:r>
              <a:rPr lang="en-US" altLang="ko-KR" dirty="0"/>
              <a:t>, </a:t>
            </a:r>
            <a:r>
              <a:rPr lang="ko-KR" altLang="en-US" strike="sngStrike" dirty="0"/>
              <a:t>수정된 문장의 </a:t>
            </a:r>
            <a:r>
              <a:rPr lang="en-US" altLang="ko-KR" strike="sngStrike" dirty="0"/>
              <a:t>class,</a:t>
            </a:r>
            <a:r>
              <a:rPr lang="en-US" altLang="ko-KR" dirty="0"/>
              <a:t> </a:t>
            </a:r>
            <a:r>
              <a:rPr lang="ko-KR" altLang="en-US" strike="sngStrike" dirty="0"/>
              <a:t>그리고 수정된 문장의 </a:t>
            </a:r>
            <a:r>
              <a:rPr lang="en-US" altLang="ko-KR" strike="sngStrike" dirty="0"/>
              <a:t>scor</a:t>
            </a:r>
            <a:r>
              <a:rPr lang="en-US" altLang="ko-KR" dirty="0"/>
              <a:t>e</a:t>
            </a:r>
            <a:r>
              <a:rPr lang="ko-KR" altLang="en-US" dirty="0"/>
              <a:t> 그 </a:t>
            </a:r>
            <a:r>
              <a:rPr lang="en-US" altLang="ko-KR" dirty="0"/>
              <a:t>identifier (</a:t>
            </a:r>
            <a:r>
              <a:rPr lang="en-US" dirty="0"/>
              <a:t>column file, </a:t>
            </a:r>
            <a:r>
              <a:rPr lang="en-US" dirty="0" err="1"/>
              <a:t>i</a:t>
            </a:r>
            <a:r>
              <a:rPr lang="en-US" dirty="0"/>
              <a:t>, i2</a:t>
            </a:r>
            <a:r>
              <a:rPr lang="en-US" altLang="ko-KR" dirty="0"/>
              <a:t>, speaker</a:t>
            </a:r>
            <a:r>
              <a:rPr lang="ko-KR" altLang="en-US" dirty="0"/>
              <a:t>로 구성된 </a:t>
            </a:r>
            <a:r>
              <a:rPr lang="en-US" altLang="ko-KR" dirty="0" err="1"/>
              <a:t>identifer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 사용하여 저장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즉</a:t>
            </a: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Storage of patients’ responses to questions</a:t>
            </a:r>
          </a:p>
          <a:p>
            <a:pPr lvl="0">
              <a:defRPr/>
            </a:pPr>
            <a:r>
              <a:rPr lang="en-US" dirty="0"/>
              <a:t>(</a:t>
            </a:r>
            <a:r>
              <a:rPr lang="ko-KR" altLang="en-US" dirty="0"/>
              <a:t>이정보는 </a:t>
            </a:r>
            <a:r>
              <a:rPr lang="en-US" altLang="ko-KR" dirty="0"/>
              <a:t>redcap</a:t>
            </a:r>
            <a:r>
              <a:rPr lang="ko-KR" altLang="en-US" dirty="0" err="1"/>
              <a:t>으로도</a:t>
            </a:r>
            <a:r>
              <a:rPr lang="ko-KR" altLang="en-US" dirty="0"/>
              <a:t> </a:t>
            </a:r>
            <a:r>
              <a:rPr lang="ko-KR" altLang="en-US" dirty="0" err="1"/>
              <a:t>보내질것</a:t>
            </a:r>
            <a:r>
              <a:rPr lang="en-US" altLang="ko-KR" dirty="0"/>
              <a:t>)</a:t>
            </a:r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User behavior</a:t>
            </a:r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P</a:t>
            </a:r>
            <a:r>
              <a:rPr lang="en-US" altLang="ko-KR" dirty="0"/>
              <a:t>atient id definition</a:t>
            </a:r>
          </a:p>
          <a:p>
            <a:pPr lvl="0">
              <a:defRPr/>
            </a:pPr>
            <a:endParaRPr lang="en-US" dirty="0">
              <a:effectLst/>
            </a:endParaRPr>
          </a:p>
          <a:p>
            <a:pPr lvl="0">
              <a:defRPr/>
            </a:pPr>
            <a:endParaRPr lang="en-US" dirty="0">
              <a:effectLst/>
            </a:endParaRPr>
          </a:p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7D4C1DD-968A-559E-76E3-933E78034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411559"/>
              </p:ext>
            </p:extLst>
          </p:nvPr>
        </p:nvGraphicFramePr>
        <p:xfrm>
          <a:off x="838199" y="5228917"/>
          <a:ext cx="9145756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390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1793416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Identifier</a:t>
                      </a:r>
                    </a:p>
                    <a:p>
                      <a:r>
                        <a:rPr lang="en-US" dirty="0"/>
                        <a:t>(file,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 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original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revised</a:t>
                      </a:r>
                      <a:r>
                        <a:rPr lang="en-US" dirty="0"/>
                        <a:t>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C728676-4D35-B7D9-5090-C3A4DC968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677848"/>
              </p:ext>
            </p:extLst>
          </p:nvPr>
        </p:nvGraphicFramePr>
        <p:xfrm>
          <a:off x="838200" y="265918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5049CA-292C-E53C-3278-1F05767E4403}"/>
              </a:ext>
            </a:extLst>
          </p:cNvPr>
          <p:cNvSpPr txBox="1"/>
          <p:nvPr/>
        </p:nvSpPr>
        <p:spPr>
          <a:xfrm>
            <a:off x="838197" y="-121422"/>
            <a:ext cx="8657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interfac</a:t>
            </a:r>
            <a:r>
              <a:rPr lang="en-US" altLang="ko-KR" dirty="0"/>
              <a:t>e </a:t>
            </a:r>
            <a:r>
              <a:rPr lang="en-US" dirty="0" err="1"/>
              <a:t>에서</a:t>
            </a:r>
            <a:r>
              <a:rPr lang="en-US" dirty="0"/>
              <a:t>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정보들을</a:t>
            </a:r>
            <a:r>
              <a:rPr 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하여 </a:t>
            </a:r>
            <a:r>
              <a:rPr lang="en-US" altLang="ko-KR" dirty="0"/>
              <a:t>render</a:t>
            </a:r>
            <a:r>
              <a:rPr lang="ko-KR" altLang="en-US" dirty="0" err="1"/>
              <a:t>하겧하려함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DD174-9984-DE0B-E75F-1A6C6D1DEA27}"/>
              </a:ext>
            </a:extLst>
          </p:cNvPr>
          <p:cNvSpPr txBox="1"/>
          <p:nvPr/>
        </p:nvSpPr>
        <p:spPr>
          <a:xfrm>
            <a:off x="838198" y="4859585"/>
            <a:ext cx="1432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</a:t>
            </a:r>
            <a:r>
              <a:rPr lang="en-US" dirty="0" err="1"/>
              <a:t>inferface에서</a:t>
            </a:r>
            <a:r>
              <a:rPr lang="en-US" dirty="0"/>
              <a:t> AI rewriting </a:t>
            </a:r>
            <a:r>
              <a:rPr lang="en-US" dirty="0" err="1"/>
              <a:t>수행하여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변경시에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문장에서</a:t>
            </a:r>
            <a:r>
              <a:rPr lang="en-US" dirty="0"/>
              <a:t> </a:t>
            </a:r>
            <a:r>
              <a:rPr lang="en-US" dirty="0" err="1"/>
              <a:t>어떻게</a:t>
            </a:r>
            <a:r>
              <a:rPr lang="en-US" dirty="0"/>
              <a:t> </a:t>
            </a:r>
            <a:r>
              <a:rPr lang="en-US" dirty="0" err="1"/>
              <a:t>변경되었고</a:t>
            </a:r>
            <a:r>
              <a:rPr lang="en-US" dirty="0"/>
              <a:t> </a:t>
            </a:r>
            <a:r>
              <a:rPr lang="en-US" dirty="0" err="1"/>
              <a:t>score는</a:t>
            </a:r>
            <a:r>
              <a:rPr lang="en-US" dirty="0"/>
              <a:t> </a:t>
            </a:r>
            <a:r>
              <a:rPr lang="en-US" dirty="0" err="1"/>
              <a:t>무엇이고</a:t>
            </a:r>
            <a:r>
              <a:rPr lang="en-US" dirty="0"/>
              <a:t> </a:t>
            </a:r>
            <a:r>
              <a:rPr lang="en-US" dirty="0" err="1"/>
              <a:t>저장</a:t>
            </a:r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625BA0E-77B6-A12A-88C6-2A567F9F2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89864"/>
              </p:ext>
            </p:extLst>
          </p:nvPr>
        </p:nvGraphicFramePr>
        <p:xfrm>
          <a:off x="838200" y="9273238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5FA9FC1-5F43-2D89-F9CB-0A104092B0D3}"/>
              </a:ext>
            </a:extLst>
          </p:cNvPr>
          <p:cNvSpPr txBox="1"/>
          <p:nvPr/>
        </p:nvSpPr>
        <p:spPr>
          <a:xfrm>
            <a:off x="838200" y="8903906"/>
            <a:ext cx="841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interface를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summary가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831A76C-0C18-2268-69D3-564548BD2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514818"/>
              </p:ext>
            </p:extLst>
          </p:nvPr>
        </p:nvGraphicFramePr>
        <p:xfrm>
          <a:off x="838197" y="11801208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77C6A93-5FC7-1803-6655-9A58A9523706}"/>
              </a:ext>
            </a:extLst>
          </p:cNvPr>
          <p:cNvSpPr txBox="1"/>
          <p:nvPr/>
        </p:nvSpPr>
        <p:spPr>
          <a:xfrm>
            <a:off x="838195" y="11431876"/>
            <a:ext cx="1135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interfac에서</a:t>
            </a:r>
            <a:r>
              <a:rPr lang="en-US" dirty="0"/>
              <a:t>  </a:t>
            </a:r>
            <a:r>
              <a:rPr lang="en-US" dirty="0" err="1"/>
              <a:t>patien가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Patent scoring of the </a:t>
            </a:r>
            <a:r>
              <a:rPr lang="en-US" dirty="0" err="1"/>
              <a:t>summary를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F7A3D34-4BBA-A461-B283-D2CD90A7D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289562"/>
              </p:ext>
            </p:extLst>
          </p:nvPr>
        </p:nvGraphicFramePr>
        <p:xfrm>
          <a:off x="838197" y="14349340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47D3D6B-3DCD-0F33-340B-307E381D32AD}"/>
              </a:ext>
            </a:extLst>
          </p:cNvPr>
          <p:cNvSpPr txBox="1"/>
          <p:nvPr/>
        </p:nvSpPr>
        <p:spPr>
          <a:xfrm>
            <a:off x="803018" y="13959846"/>
            <a:ext cx="1055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patients’ responses to questions from Ella </a:t>
            </a:r>
            <a:r>
              <a:rPr lang="en-US" dirty="0" err="1"/>
              <a:t>를</a:t>
            </a:r>
            <a:r>
              <a:rPr lang="en-US" dirty="0"/>
              <a:t> </a:t>
            </a:r>
            <a:r>
              <a:rPr lang="en-US" dirty="0" err="1"/>
              <a:t>각각</a:t>
            </a:r>
            <a:r>
              <a:rPr lang="en-US" dirty="0"/>
              <a:t> </a:t>
            </a:r>
            <a:r>
              <a:rPr lang="en-US" dirty="0" err="1"/>
              <a:t>저장하는</a:t>
            </a:r>
            <a:r>
              <a:rPr lang="en-US" dirty="0"/>
              <a:t> </a:t>
            </a:r>
            <a:r>
              <a:rPr lang="en-US" dirty="0" err="1"/>
              <a:t>공간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004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CCCB-776B-3B25-5EFB-394D827E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integration </a:t>
            </a:r>
            <a:r>
              <a:rPr lang="en-US" altLang="ko-KR" dirty="0"/>
              <a:t>(</a:t>
            </a:r>
            <a:r>
              <a:rPr lang="ko-KR" altLang="en-US" dirty="0"/>
              <a:t>이대로 완전 작동이 가능한 시스템을 개인 </a:t>
            </a:r>
            <a:r>
              <a:rPr lang="en-US" altLang="ko-KR" dirty="0"/>
              <a:t>server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deployment</a:t>
            </a:r>
            <a:r>
              <a:rPr lang="ko-KR" altLang="en-US" dirty="0"/>
              <a:t>하기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569A-E9DC-C778-35CC-422A4929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6A912-01B0-80FB-426A-28C126FD7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602" y="1949473"/>
            <a:ext cx="6132815" cy="4103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0EC24-FDB4-1CAA-F467-BFCD2F830071}"/>
              </a:ext>
            </a:extLst>
          </p:cNvPr>
          <p:cNvSpPr txBox="1"/>
          <p:nvPr/>
        </p:nvSpPr>
        <p:spPr>
          <a:xfrm>
            <a:off x="2514601" y="3359979"/>
            <a:ext cx="7936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Transcript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FDD1DF-2E4C-F7F2-A6B5-E6C065A7397B}"/>
              </a:ext>
            </a:extLst>
          </p:cNvPr>
          <p:cNvCxnSpPr/>
          <p:nvPr/>
        </p:nvCxnSpPr>
        <p:spPr>
          <a:xfrm flipH="1">
            <a:off x="3917092" y="2551670"/>
            <a:ext cx="67962" cy="53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4B3E96-27AD-199C-2C05-2615E336BB15}"/>
              </a:ext>
            </a:extLst>
          </p:cNvPr>
          <p:cNvSpPr txBox="1"/>
          <p:nvPr/>
        </p:nvSpPr>
        <p:spPr>
          <a:xfrm>
            <a:off x="3554002" y="2422763"/>
            <a:ext cx="11889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Turbo_transriber</a:t>
            </a:r>
            <a:endParaRPr lang="en-US" sz="11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E71C2F-CA4D-4848-57E3-19ADB7482645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308211" y="3157663"/>
            <a:ext cx="840257" cy="333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29686C-9502-0204-F117-54870DC0700B}"/>
              </a:ext>
            </a:extLst>
          </p:cNvPr>
          <p:cNvSpPr txBox="1"/>
          <p:nvPr/>
        </p:nvSpPr>
        <p:spPr>
          <a:xfrm>
            <a:off x="1992713" y="3958842"/>
            <a:ext cx="1329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Cleaned transcript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6D16F5-775A-1770-02A3-BB00710544E4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322452" y="3756526"/>
            <a:ext cx="793609" cy="333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A6D588-D655-19F5-D0C3-41873CAACF7F}"/>
              </a:ext>
            </a:extLst>
          </p:cNvPr>
          <p:cNvSpPr txBox="1"/>
          <p:nvPr/>
        </p:nvSpPr>
        <p:spPr>
          <a:xfrm>
            <a:off x="1254212" y="3633096"/>
            <a:ext cx="2068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Cleaning process(remove PHI)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FD6EB61-1FB4-EA03-8A96-B84C771556E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3322452" y="3490784"/>
            <a:ext cx="779369" cy="273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66B63C3-AE90-6771-C883-72EC89F13485}"/>
              </a:ext>
            </a:extLst>
          </p:cNvPr>
          <p:cNvSpPr txBox="1"/>
          <p:nvPr/>
        </p:nvSpPr>
        <p:spPr>
          <a:xfrm>
            <a:off x="5379308" y="2604157"/>
            <a:ext cx="9226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Our server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A5F745-253C-845F-A88F-EDAC9C022280}"/>
              </a:ext>
            </a:extLst>
          </p:cNvPr>
          <p:cNvSpPr txBox="1"/>
          <p:nvPr/>
        </p:nvSpPr>
        <p:spPr>
          <a:xfrm>
            <a:off x="5539194" y="3019239"/>
            <a:ext cx="9226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Folder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AC6B30-BB34-8253-0CC5-92E30C1F108C}"/>
              </a:ext>
            </a:extLst>
          </p:cNvPr>
          <p:cNvSpPr txBox="1"/>
          <p:nvPr/>
        </p:nvSpPr>
        <p:spPr>
          <a:xfrm>
            <a:off x="4563520" y="3928319"/>
            <a:ext cx="1188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STP cleaned transcript</a:t>
            </a:r>
          </a:p>
          <a:p>
            <a:r>
              <a:rPr lang="en-US" sz="8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4E945D-72B2-0DA8-59A7-7D4FF5B14C2D}"/>
              </a:ext>
            </a:extLst>
          </p:cNvPr>
          <p:cNvSpPr txBox="1"/>
          <p:nvPr/>
        </p:nvSpPr>
        <p:spPr>
          <a:xfrm>
            <a:off x="6486584" y="3417972"/>
            <a:ext cx="84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accent5">
                    <a:lumMod val="75000"/>
                  </a:schemeClr>
                </a:solidFill>
              </a:rPr>
              <a:t>Worker that keep checking whether something new comes into the folder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FDB92B-10E6-F281-9EB3-E2E580ECC887}"/>
              </a:ext>
            </a:extLst>
          </p:cNvPr>
          <p:cNvSpPr txBox="1"/>
          <p:nvPr/>
        </p:nvSpPr>
        <p:spPr>
          <a:xfrm>
            <a:off x="6019760" y="3791292"/>
            <a:ext cx="84025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accent5">
                    <a:lumMod val="75000"/>
                  </a:schemeClr>
                </a:solidFill>
              </a:rPr>
              <a:t>Archive file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75A86D-E251-21E0-7F20-988A3B792931}"/>
              </a:ext>
            </a:extLst>
          </p:cNvPr>
          <p:cNvSpPr txBox="1"/>
          <p:nvPr/>
        </p:nvSpPr>
        <p:spPr>
          <a:xfrm>
            <a:off x="5807918" y="4968780"/>
            <a:ext cx="9226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Classifer</a:t>
            </a:r>
            <a:endParaRPr lang="en-US" sz="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B6607C-DCBC-1F83-E105-41D12C1AA5F9}"/>
              </a:ext>
            </a:extLst>
          </p:cNvPr>
          <p:cNvSpPr txBox="1"/>
          <p:nvPr/>
        </p:nvSpPr>
        <p:spPr>
          <a:xfrm>
            <a:off x="6383805" y="4968780"/>
            <a:ext cx="497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Scorer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A16450-A5BD-7952-1E01-AB8FC6103733}"/>
              </a:ext>
            </a:extLst>
          </p:cNvPr>
          <p:cNvSpPr txBox="1"/>
          <p:nvPr/>
        </p:nvSpPr>
        <p:spPr>
          <a:xfrm>
            <a:off x="6881196" y="5021090"/>
            <a:ext cx="73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Summarier</a:t>
            </a:r>
            <a:endParaRPr lang="en-US" sz="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18859C-0BBD-2EB7-89D5-B346BD40CA7E}"/>
              </a:ext>
            </a:extLst>
          </p:cNvPr>
          <p:cNvSpPr txBox="1"/>
          <p:nvPr/>
        </p:nvSpPr>
        <p:spPr>
          <a:xfrm>
            <a:off x="7313896" y="3421786"/>
            <a:ext cx="9226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Scored Sentences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2B4D25-7360-E056-2173-754846EDE685}"/>
              </a:ext>
            </a:extLst>
          </p:cNvPr>
          <p:cNvSpPr txBox="1"/>
          <p:nvPr/>
        </p:nvSpPr>
        <p:spPr>
          <a:xfrm>
            <a:off x="7326841" y="3733443"/>
            <a:ext cx="9226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362F88-0573-B8CC-0B04-4E0BB793C3B2}"/>
              </a:ext>
            </a:extLst>
          </p:cNvPr>
          <p:cNvSpPr txBox="1"/>
          <p:nvPr/>
        </p:nvSpPr>
        <p:spPr>
          <a:xfrm>
            <a:off x="8473823" y="3019239"/>
            <a:ext cx="9226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Docter interface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51A687-E536-E85F-1344-30D31563E503}"/>
              </a:ext>
            </a:extLst>
          </p:cNvPr>
          <p:cNvSpPr txBox="1"/>
          <p:nvPr/>
        </p:nvSpPr>
        <p:spPr>
          <a:xfrm>
            <a:off x="8423448" y="4358727"/>
            <a:ext cx="9226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Patient interface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963C48-308A-F4CA-05F6-FFDA62DAE031}"/>
              </a:ext>
            </a:extLst>
          </p:cNvPr>
          <p:cNvSpPr txBox="1"/>
          <p:nvPr/>
        </p:nvSpPr>
        <p:spPr>
          <a:xfrm>
            <a:off x="710441" y="6225336"/>
            <a:ext cx="34483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현재</a:t>
            </a:r>
            <a:r>
              <a:rPr lang="en-US" sz="800" dirty="0">
                <a:solidFill>
                  <a:srgbClr val="FF0000"/>
                </a:solidFill>
              </a:rPr>
              <a:t> Ivan </a:t>
            </a:r>
            <a:r>
              <a:rPr lang="en-US" sz="800" dirty="0" err="1">
                <a:solidFill>
                  <a:srgbClr val="FF0000"/>
                </a:solidFill>
              </a:rPr>
              <a:t>이</a:t>
            </a:r>
            <a:r>
              <a:rPr lang="en-US" sz="800" dirty="0">
                <a:solidFill>
                  <a:srgbClr val="FF0000"/>
                </a:solidFill>
              </a:rPr>
              <a:t> </a:t>
            </a:r>
            <a:r>
              <a:rPr lang="en-US" sz="800" dirty="0" err="1">
                <a:solidFill>
                  <a:srgbClr val="FF0000"/>
                </a:solidFill>
              </a:rPr>
              <a:t>Ella에게</a:t>
            </a:r>
            <a:r>
              <a:rPr 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redcap</a:t>
            </a:r>
            <a:r>
              <a:rPr lang="ko-KR" altLang="en-US" sz="800" dirty="0" err="1">
                <a:solidFill>
                  <a:srgbClr val="FF0000"/>
                </a:solidFill>
              </a:rPr>
              <a:t>에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 err="1">
                <a:solidFill>
                  <a:srgbClr val="FF0000"/>
                </a:solidFill>
              </a:rPr>
              <a:t>docter</a:t>
            </a:r>
            <a:r>
              <a:rPr lang="en-US" altLang="ko-KR" sz="800" dirty="0">
                <a:solidFill>
                  <a:srgbClr val="FF0000"/>
                </a:solidFill>
              </a:rPr>
              <a:t> id</a:t>
            </a:r>
            <a:r>
              <a:rPr lang="ko-KR" altLang="en-US" sz="800" dirty="0">
                <a:solidFill>
                  <a:srgbClr val="FF0000"/>
                </a:solidFill>
              </a:rPr>
              <a:t>와 </a:t>
            </a:r>
            <a:r>
              <a:rPr lang="en-US" altLang="ko-KR" sz="800" dirty="0">
                <a:solidFill>
                  <a:srgbClr val="FF0000"/>
                </a:solidFill>
              </a:rPr>
              <a:t>patient id</a:t>
            </a:r>
            <a:r>
              <a:rPr lang="ko-KR" altLang="en-US" sz="800" dirty="0">
                <a:solidFill>
                  <a:srgbClr val="FF0000"/>
                </a:solidFill>
              </a:rPr>
              <a:t> 넣으라고 요청함</a:t>
            </a:r>
            <a:r>
              <a:rPr lang="en-US" altLang="ko-KR" sz="800" dirty="0">
                <a:solidFill>
                  <a:srgbClr val="FF0000"/>
                </a:solidFill>
              </a:rPr>
              <a:t>.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19001D-1675-24C7-441A-E1182435CF1B}"/>
              </a:ext>
            </a:extLst>
          </p:cNvPr>
          <p:cNvSpPr txBox="1"/>
          <p:nvPr/>
        </p:nvSpPr>
        <p:spPr>
          <a:xfrm>
            <a:off x="7790213" y="2717589"/>
            <a:ext cx="5456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AI rewriting </a:t>
            </a:r>
            <a:r>
              <a:rPr lang="en-US" sz="500" dirty="0" err="1">
                <a:solidFill>
                  <a:srgbClr val="FF0000"/>
                </a:solidFill>
              </a:rPr>
              <a:t>기능에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대한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api</a:t>
            </a:r>
            <a:r>
              <a:rPr lang="en-US" sz="500" dirty="0">
                <a:solidFill>
                  <a:srgbClr val="FF0000"/>
                </a:solidFill>
              </a:rPr>
              <a:t> call </a:t>
            </a:r>
            <a:r>
              <a:rPr lang="en-US" sz="500" dirty="0" err="1">
                <a:solidFill>
                  <a:srgbClr val="FF0000"/>
                </a:solidFill>
              </a:rPr>
              <a:t>에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대한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것이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여기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빠짐</a:t>
            </a:r>
            <a:r>
              <a:rPr lang="en-US" altLang="ko-KR" sz="500" dirty="0">
                <a:solidFill>
                  <a:srgbClr val="FF0000"/>
                </a:solidFill>
              </a:rPr>
              <a:t>.</a:t>
            </a:r>
            <a:endParaRPr lang="en-US" sz="500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D77839-4B07-8E4F-8795-9DBE6224CEF5}"/>
              </a:ext>
            </a:extLst>
          </p:cNvPr>
          <p:cNvSpPr txBox="1"/>
          <p:nvPr/>
        </p:nvSpPr>
        <p:spPr>
          <a:xfrm>
            <a:off x="7313896" y="3233852"/>
            <a:ext cx="72728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Docter Sentences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B3A626-6F73-252E-09A4-CBDEE7B11307}"/>
              </a:ext>
            </a:extLst>
          </p:cNvPr>
          <p:cNvSpPr txBox="1"/>
          <p:nvPr/>
        </p:nvSpPr>
        <p:spPr>
          <a:xfrm>
            <a:off x="7326840" y="3915645"/>
            <a:ext cx="10966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Patent scoring of the summary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49830E-56C8-DB9F-5A1A-9F5B7A5EC34F}"/>
              </a:ext>
            </a:extLst>
          </p:cNvPr>
          <p:cNvSpPr txBox="1"/>
          <p:nvPr/>
        </p:nvSpPr>
        <p:spPr>
          <a:xfrm>
            <a:off x="7326839" y="4168687"/>
            <a:ext cx="13599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patients’ responses to questions from Ella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700EC2-8DD5-00E8-222E-6E004BAB1E2C}"/>
              </a:ext>
            </a:extLst>
          </p:cNvPr>
          <p:cNvSpPr txBox="1"/>
          <p:nvPr/>
        </p:nvSpPr>
        <p:spPr>
          <a:xfrm>
            <a:off x="7271513" y="5462839"/>
            <a:ext cx="1955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 err="1">
                <a:solidFill>
                  <a:srgbClr val="FF0000"/>
                </a:solidFill>
              </a:rPr>
              <a:t>현재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이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DB에</a:t>
            </a:r>
            <a:r>
              <a:rPr lang="en-US" sz="500" dirty="0">
                <a:solidFill>
                  <a:srgbClr val="FF0000"/>
                </a:solidFill>
              </a:rPr>
              <a:t> user behavior </a:t>
            </a:r>
            <a:r>
              <a:rPr lang="en-US" sz="500" dirty="0" err="1">
                <a:solidFill>
                  <a:srgbClr val="FF0000"/>
                </a:solidFill>
              </a:rPr>
              <a:t>saving을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위한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것은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없음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이유는</a:t>
            </a:r>
            <a:r>
              <a:rPr lang="en-US" sz="500" dirty="0">
                <a:solidFill>
                  <a:srgbClr val="FF0000"/>
                </a:solidFill>
              </a:rPr>
              <a:t> Ivan </a:t>
            </a:r>
            <a:r>
              <a:rPr lang="en-US" sz="500" dirty="0" err="1">
                <a:solidFill>
                  <a:srgbClr val="FF0000"/>
                </a:solidFill>
              </a:rPr>
              <a:t>이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생각하기에</a:t>
            </a:r>
            <a:r>
              <a:rPr lang="en-US" sz="500" dirty="0">
                <a:solidFill>
                  <a:srgbClr val="FF0000"/>
                </a:solidFill>
              </a:rPr>
              <a:t>   </a:t>
            </a:r>
            <a:r>
              <a:rPr lang="en-US" sz="500" dirty="0" err="1">
                <a:solidFill>
                  <a:srgbClr val="FF0000"/>
                </a:solidFill>
              </a:rPr>
              <a:t>현재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시간과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자금을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바탕으로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힘들것</a:t>
            </a:r>
            <a:r>
              <a:rPr lang="en-US" altLang="ko-KR" sz="500" dirty="0">
                <a:solidFill>
                  <a:srgbClr val="FF0000"/>
                </a:solidFill>
              </a:rPr>
              <a:t>. </a:t>
            </a:r>
            <a:r>
              <a:rPr lang="ko-KR" altLang="en-US" sz="500" dirty="0">
                <a:solidFill>
                  <a:srgbClr val="FF0000"/>
                </a:solidFill>
              </a:rPr>
              <a:t>일단 이것에 대해 </a:t>
            </a:r>
            <a:r>
              <a:rPr lang="en-US" altLang="ko-KR" sz="500" dirty="0" err="1">
                <a:solidFill>
                  <a:srgbClr val="FF0000"/>
                </a:solidFill>
              </a:rPr>
              <a:t>graciela</a:t>
            </a:r>
            <a:r>
              <a:rPr lang="ko-KR" altLang="en-US" sz="500" dirty="0">
                <a:solidFill>
                  <a:srgbClr val="FF0000"/>
                </a:solidFill>
              </a:rPr>
              <a:t>에게 </a:t>
            </a:r>
            <a:r>
              <a:rPr lang="en-US" altLang="ko-KR" sz="500" dirty="0">
                <a:solidFill>
                  <a:srgbClr val="FF0000"/>
                </a:solidFill>
              </a:rPr>
              <a:t>bring up. </a:t>
            </a:r>
            <a:r>
              <a:rPr lang="ko-KR" altLang="en-US" sz="500" dirty="0">
                <a:solidFill>
                  <a:srgbClr val="FF0000"/>
                </a:solidFill>
              </a:rPr>
              <a:t>해야 함</a:t>
            </a:r>
            <a:r>
              <a:rPr lang="en-US" altLang="ko-KR" sz="500" dirty="0">
                <a:solidFill>
                  <a:srgbClr val="FF0000"/>
                </a:solidFill>
              </a:rPr>
              <a:t>.!!!!!! Graciela</a:t>
            </a:r>
            <a:r>
              <a:rPr lang="ko-KR" altLang="en-US" sz="500" dirty="0">
                <a:solidFill>
                  <a:srgbClr val="FF0000"/>
                </a:solidFill>
              </a:rPr>
              <a:t>가 </a:t>
            </a:r>
            <a:r>
              <a:rPr lang="ko-KR" altLang="en-US" sz="500" dirty="0" err="1">
                <a:solidFill>
                  <a:srgbClr val="FF0000"/>
                </a:solidFill>
              </a:rPr>
              <a:t>원하는것임</a:t>
            </a:r>
            <a:r>
              <a:rPr lang="en-US" altLang="ko-KR" sz="500" dirty="0">
                <a:solidFill>
                  <a:srgbClr val="FF0000"/>
                </a:solidFill>
              </a:rPr>
              <a:t>/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02EC36-516C-0F2A-10F1-1F95BFE5A7CA}"/>
              </a:ext>
            </a:extLst>
          </p:cNvPr>
          <p:cNvSpPr txBox="1"/>
          <p:nvPr/>
        </p:nvSpPr>
        <p:spPr>
          <a:xfrm>
            <a:off x="710441" y="6440780"/>
            <a:ext cx="44402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Worker </a:t>
            </a:r>
            <a:r>
              <a:rPr lang="en-US" sz="1100" dirty="0" err="1">
                <a:solidFill>
                  <a:srgbClr val="FF0000"/>
                </a:solidFill>
              </a:rPr>
              <a:t>들</a:t>
            </a:r>
            <a:r>
              <a:rPr lang="en-US" sz="1100" dirty="0">
                <a:solidFill>
                  <a:srgbClr val="FF0000"/>
                </a:solidFill>
              </a:rPr>
              <a:t> </a:t>
            </a:r>
            <a:r>
              <a:rPr lang="en-US" sz="1100" dirty="0" err="1">
                <a:solidFill>
                  <a:srgbClr val="FF0000"/>
                </a:solidFill>
              </a:rPr>
              <a:t>그리고</a:t>
            </a:r>
            <a:r>
              <a:rPr lang="en-US" sz="1100" dirty="0">
                <a:solidFill>
                  <a:srgbClr val="FF0000"/>
                </a:solidFill>
              </a:rPr>
              <a:t> DB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그리고 </a:t>
            </a:r>
            <a:r>
              <a:rPr lang="en-US" altLang="ko-KR" sz="1100" dirty="0">
                <a:solidFill>
                  <a:srgbClr val="FF0000"/>
                </a:solidFill>
              </a:rPr>
              <a:t>Dashboard</a:t>
            </a:r>
            <a:r>
              <a:rPr lang="ko-KR" altLang="en-US" sz="1100" dirty="0" err="1">
                <a:solidFill>
                  <a:srgbClr val="FF0000"/>
                </a:solidFill>
              </a:rPr>
              <a:t>를</a:t>
            </a:r>
            <a:r>
              <a:rPr lang="ko-KR" altLang="en-US" sz="1100" dirty="0">
                <a:solidFill>
                  <a:srgbClr val="FF0000"/>
                </a:solidFill>
              </a:rPr>
              <a:t> 제 </a:t>
            </a:r>
            <a:r>
              <a:rPr lang="en-US" altLang="ko-KR" sz="1100" dirty="0">
                <a:solidFill>
                  <a:srgbClr val="FF0000"/>
                </a:solidFill>
              </a:rPr>
              <a:t>responsibility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417B99-4330-D51D-DAC2-EE6867AA2BC5}"/>
              </a:ext>
            </a:extLst>
          </p:cNvPr>
          <p:cNvSpPr txBox="1"/>
          <p:nvPr/>
        </p:nvSpPr>
        <p:spPr>
          <a:xfrm>
            <a:off x="6632500" y="2879724"/>
            <a:ext cx="84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Worker for storing info to redcap project. Python script to call </a:t>
            </a:r>
            <a:r>
              <a:rPr lang="en-US" sz="500" dirty="0" err="1">
                <a:solidFill>
                  <a:srgbClr val="FF0000"/>
                </a:solidFill>
              </a:rPr>
              <a:t>api</a:t>
            </a:r>
            <a:r>
              <a:rPr lang="en-US" sz="500" dirty="0">
                <a:solidFill>
                  <a:srgbClr val="FF0000"/>
                </a:solidFill>
              </a:rPr>
              <a:t>. It is proof of concept.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3FC2AA4F-DFDF-6D96-46A9-4D8B2D751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88722"/>
              </p:ext>
            </p:extLst>
          </p:nvPr>
        </p:nvGraphicFramePr>
        <p:xfrm>
          <a:off x="-9014493" y="-2357565"/>
          <a:ext cx="6694976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390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1793416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225390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Identifier</a:t>
                      </a:r>
                    </a:p>
                    <a:p>
                      <a:r>
                        <a:rPr lang="en-US" dirty="0"/>
                        <a:t>(file,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 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original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revised</a:t>
                      </a:r>
                      <a:r>
                        <a:rPr lang="en-US" dirty="0"/>
                        <a:t>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4525FA2F-C7D0-2448-25AB-40B18EC3F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679592"/>
              </p:ext>
            </p:extLst>
          </p:nvPr>
        </p:nvGraphicFramePr>
        <p:xfrm>
          <a:off x="-9049671" y="-470321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DocterID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9E7FC23-C984-49F7-6486-FF1012DF5E78}"/>
              </a:ext>
            </a:extLst>
          </p:cNvPr>
          <p:cNvSpPr txBox="1"/>
          <p:nvPr/>
        </p:nvSpPr>
        <p:spPr>
          <a:xfrm>
            <a:off x="-9049674" y="-5090550"/>
            <a:ext cx="8764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interfac</a:t>
            </a:r>
            <a:r>
              <a:rPr lang="en-US" altLang="ko-KR" dirty="0"/>
              <a:t>e </a:t>
            </a:r>
            <a:r>
              <a:rPr lang="en-US" dirty="0" err="1"/>
              <a:t>에서</a:t>
            </a:r>
            <a:r>
              <a:rPr lang="en-US" dirty="0"/>
              <a:t>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정보들을</a:t>
            </a:r>
            <a:r>
              <a:rPr 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하여 </a:t>
            </a:r>
            <a:r>
              <a:rPr lang="en-US" altLang="ko-KR" dirty="0"/>
              <a:t>render</a:t>
            </a:r>
            <a:r>
              <a:rPr lang="ko-KR" altLang="en-US" dirty="0"/>
              <a:t>하게 하려함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63F1D2-A636-06C7-F4B4-E029B9093F0A}"/>
              </a:ext>
            </a:extLst>
          </p:cNvPr>
          <p:cNvSpPr txBox="1"/>
          <p:nvPr/>
        </p:nvSpPr>
        <p:spPr>
          <a:xfrm>
            <a:off x="-9014494" y="-2726897"/>
            <a:ext cx="1432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</a:t>
            </a:r>
            <a:r>
              <a:rPr lang="en-US" dirty="0" err="1"/>
              <a:t>inferface에서</a:t>
            </a:r>
            <a:r>
              <a:rPr lang="en-US" dirty="0"/>
              <a:t> AI rewriting </a:t>
            </a:r>
            <a:r>
              <a:rPr lang="en-US" dirty="0" err="1"/>
              <a:t>수행하여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변경시에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문장에서</a:t>
            </a:r>
            <a:r>
              <a:rPr lang="en-US" dirty="0"/>
              <a:t> </a:t>
            </a:r>
            <a:r>
              <a:rPr lang="en-US" dirty="0" err="1"/>
              <a:t>어떻게</a:t>
            </a:r>
            <a:r>
              <a:rPr lang="en-US" dirty="0"/>
              <a:t> </a:t>
            </a:r>
            <a:r>
              <a:rPr lang="en-US" dirty="0" err="1"/>
              <a:t>변경되었고</a:t>
            </a:r>
            <a:r>
              <a:rPr lang="en-US" dirty="0"/>
              <a:t> </a:t>
            </a:r>
            <a:r>
              <a:rPr lang="en-US" dirty="0" err="1"/>
              <a:t>score는</a:t>
            </a:r>
            <a:r>
              <a:rPr lang="en-US" dirty="0"/>
              <a:t> </a:t>
            </a:r>
            <a:r>
              <a:rPr lang="en-US" dirty="0" err="1"/>
              <a:t>무엇이고</a:t>
            </a:r>
            <a:r>
              <a:rPr lang="en-US" dirty="0"/>
              <a:t> </a:t>
            </a:r>
            <a:r>
              <a:rPr lang="en-US" dirty="0" err="1"/>
              <a:t>저장</a:t>
            </a:r>
            <a:endParaRPr lang="en-US" dirty="0"/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52DF1543-7F11-9095-AC19-F9C594E73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742955"/>
              </p:ext>
            </p:extLst>
          </p:nvPr>
        </p:nvGraphicFramePr>
        <p:xfrm>
          <a:off x="-10164038" y="8555374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7A265083-7975-73AE-BCDF-090EC967FF17}"/>
              </a:ext>
            </a:extLst>
          </p:cNvPr>
          <p:cNvSpPr txBox="1"/>
          <p:nvPr/>
        </p:nvSpPr>
        <p:spPr>
          <a:xfrm>
            <a:off x="-10164038" y="8186042"/>
            <a:ext cx="841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interface를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summary가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CAD225A3-AD16-C48A-8EFD-8D54D7CF3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361526"/>
              </p:ext>
            </p:extLst>
          </p:nvPr>
        </p:nvGraphicFramePr>
        <p:xfrm>
          <a:off x="-10128857" y="10724093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F27E577C-70A9-865D-BC23-8A9D925ECBFD}"/>
              </a:ext>
            </a:extLst>
          </p:cNvPr>
          <p:cNvSpPr txBox="1"/>
          <p:nvPr/>
        </p:nvSpPr>
        <p:spPr>
          <a:xfrm>
            <a:off x="-10128859" y="10354761"/>
            <a:ext cx="1135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interfac에서</a:t>
            </a:r>
            <a:r>
              <a:rPr lang="en-US" dirty="0"/>
              <a:t>  </a:t>
            </a:r>
            <a:r>
              <a:rPr lang="en-US" dirty="0" err="1"/>
              <a:t>patien가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Patent scoring of the </a:t>
            </a:r>
            <a:r>
              <a:rPr lang="en-US" dirty="0" err="1"/>
              <a:t>summar를</a:t>
            </a:r>
            <a:r>
              <a:rPr lang="en-US" dirty="0"/>
              <a:t> </a:t>
            </a:r>
            <a:r>
              <a:rPr lang="en-US" dirty="0" err="1"/>
              <a:t>저장하는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C72C8FB-451A-D030-40B0-AFE9663B3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334438"/>
              </p:ext>
            </p:extLst>
          </p:nvPr>
        </p:nvGraphicFramePr>
        <p:xfrm>
          <a:off x="-10164038" y="13302284"/>
          <a:ext cx="1051560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0620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5B91B79E-66CB-5513-0DAD-D9EA492DFC9D}"/>
              </a:ext>
            </a:extLst>
          </p:cNvPr>
          <p:cNvSpPr txBox="1"/>
          <p:nvPr/>
        </p:nvSpPr>
        <p:spPr>
          <a:xfrm>
            <a:off x="-10199217" y="12912790"/>
            <a:ext cx="1055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patients’ responses to questions from Ella </a:t>
            </a:r>
            <a:r>
              <a:rPr lang="en-US" dirty="0" err="1"/>
              <a:t>를</a:t>
            </a:r>
            <a:r>
              <a:rPr lang="en-US" dirty="0"/>
              <a:t> </a:t>
            </a:r>
            <a:r>
              <a:rPr lang="en-US" dirty="0" err="1"/>
              <a:t>각각</a:t>
            </a:r>
            <a:r>
              <a:rPr lang="en-US" dirty="0"/>
              <a:t> </a:t>
            </a:r>
            <a:r>
              <a:rPr lang="en-US" dirty="0" err="1"/>
              <a:t>저장하는</a:t>
            </a:r>
            <a:r>
              <a:rPr lang="en-US" dirty="0"/>
              <a:t> </a:t>
            </a:r>
            <a:r>
              <a:rPr lang="en-US" dirty="0" err="1"/>
              <a:t>공간</a:t>
            </a:r>
            <a:r>
              <a:rPr lang="en-US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91305F-CE65-D2C9-CEBD-149E0CB81DC7}"/>
              </a:ext>
            </a:extLst>
          </p:cNvPr>
          <p:cNvSpPr txBox="1"/>
          <p:nvPr/>
        </p:nvSpPr>
        <p:spPr>
          <a:xfrm>
            <a:off x="9396459" y="4168687"/>
            <a:ext cx="1075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 err="1">
                <a:solidFill>
                  <a:srgbClr val="FF0000"/>
                </a:solidFill>
              </a:rPr>
              <a:t>환자에게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이</a:t>
            </a:r>
            <a:r>
              <a:rPr lang="en-US" sz="500" dirty="0">
                <a:solidFill>
                  <a:srgbClr val="FF0000"/>
                </a:solidFill>
              </a:rPr>
              <a:t> </a:t>
            </a:r>
            <a:r>
              <a:rPr lang="en-US" sz="500" dirty="0" err="1">
                <a:solidFill>
                  <a:srgbClr val="FF0000"/>
                </a:solidFill>
              </a:rPr>
              <a:t>환자</a:t>
            </a:r>
            <a:r>
              <a:rPr lang="en-US" sz="500" dirty="0">
                <a:solidFill>
                  <a:srgbClr val="FF0000"/>
                </a:solidFill>
              </a:rPr>
              <a:t> Patient interface </a:t>
            </a:r>
            <a:r>
              <a:rPr lang="ko-KR" altLang="en-US" sz="500" dirty="0">
                <a:solidFill>
                  <a:srgbClr val="FF0000"/>
                </a:solidFill>
              </a:rPr>
              <a:t>어떻게 접근 가능하게 할지</a:t>
            </a:r>
            <a:r>
              <a:rPr lang="en-US" altLang="ko-KR" sz="500" dirty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sz="500" dirty="0">
                <a:solidFill>
                  <a:srgbClr val="FF0000"/>
                </a:solidFill>
              </a:rPr>
              <a:t>어떤 특정 환자에 대한 암호화된 </a:t>
            </a:r>
            <a:r>
              <a:rPr lang="en-US" altLang="ko-KR" sz="500" dirty="0">
                <a:solidFill>
                  <a:srgbClr val="FF0000"/>
                </a:solidFill>
              </a:rPr>
              <a:t>link</a:t>
            </a:r>
            <a:r>
              <a:rPr lang="ko-KR" altLang="en-US" sz="500" dirty="0" err="1">
                <a:solidFill>
                  <a:srgbClr val="FF0000"/>
                </a:solidFill>
              </a:rPr>
              <a:t>를</a:t>
            </a:r>
            <a:r>
              <a:rPr lang="ko-KR" altLang="en-US" sz="500" dirty="0">
                <a:solidFill>
                  <a:srgbClr val="FF0000"/>
                </a:solidFill>
              </a:rPr>
              <a:t> 발송</a:t>
            </a:r>
            <a:r>
              <a:rPr lang="en-US" altLang="ko-KR" sz="500" dirty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sz="500" dirty="0">
                <a:solidFill>
                  <a:srgbClr val="FF0000"/>
                </a:solidFill>
              </a:rPr>
              <a:t>아주 중요 명확히 하기</a:t>
            </a:r>
            <a:endParaRPr lang="en-US" altLang="ko-KR" sz="500" dirty="0">
              <a:solidFill>
                <a:srgbClr val="FF0000"/>
              </a:solidFill>
            </a:endParaRPr>
          </a:p>
          <a:p>
            <a:r>
              <a:rPr lang="en-US" altLang="ko-KR" sz="500" dirty="0">
                <a:solidFill>
                  <a:srgbClr val="FF0000"/>
                </a:solidFill>
              </a:rPr>
              <a:t>Ivan</a:t>
            </a:r>
            <a:r>
              <a:rPr lang="ko-KR" altLang="en-US" sz="500" dirty="0">
                <a:solidFill>
                  <a:srgbClr val="FF0000"/>
                </a:solidFill>
              </a:rPr>
              <a:t>에게 </a:t>
            </a:r>
            <a:r>
              <a:rPr lang="ko-KR" altLang="en-US" sz="500" dirty="0" err="1">
                <a:solidFill>
                  <a:srgbClr val="FF0000"/>
                </a:solidFill>
              </a:rPr>
              <a:t>동팡이</a:t>
            </a:r>
            <a:r>
              <a:rPr lang="ko-KR" altLang="en-US" sz="500" dirty="0">
                <a:solidFill>
                  <a:srgbClr val="FF0000"/>
                </a:solidFill>
              </a:rPr>
              <a:t> 물어 </a:t>
            </a:r>
            <a:r>
              <a:rPr lang="ko-KR" altLang="en-US" sz="500" dirty="0" err="1">
                <a:solidFill>
                  <a:srgbClr val="FF0000"/>
                </a:solidFill>
              </a:rPr>
              <a:t>봣지만</a:t>
            </a:r>
            <a:r>
              <a:rPr lang="ko-KR" altLang="en-US" sz="500" dirty="0">
                <a:solidFill>
                  <a:srgbClr val="FF0000"/>
                </a:solidFill>
              </a:rPr>
              <a:t> 이를 나에게 넘김</a:t>
            </a:r>
            <a:r>
              <a:rPr lang="en-US" altLang="ko-KR" sz="5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B3F460-2202-E6E3-9568-F3E399BDC7AE}"/>
              </a:ext>
            </a:extLst>
          </p:cNvPr>
          <p:cNvSpPr txBox="1"/>
          <p:nvPr/>
        </p:nvSpPr>
        <p:spPr>
          <a:xfrm>
            <a:off x="9205297" y="2910687"/>
            <a:ext cx="10757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rgbClr val="FF0000"/>
                </a:solidFill>
              </a:rPr>
              <a:t>의사에게 이 의사 </a:t>
            </a:r>
            <a:r>
              <a:rPr lang="en-US" altLang="ko-KR" sz="500" dirty="0">
                <a:solidFill>
                  <a:srgbClr val="FF0000"/>
                </a:solidFill>
              </a:rPr>
              <a:t>interface</a:t>
            </a:r>
            <a:r>
              <a:rPr lang="ko-KR" altLang="en-US" sz="500" dirty="0" err="1">
                <a:solidFill>
                  <a:srgbClr val="FF0000"/>
                </a:solidFill>
              </a:rPr>
              <a:t>를</a:t>
            </a:r>
            <a:r>
              <a:rPr lang="ko-KR" altLang="en-US" sz="500" dirty="0">
                <a:solidFill>
                  <a:srgbClr val="FF0000"/>
                </a:solidFill>
              </a:rPr>
              <a:t> 어떻게 접근 가능하게 할지</a:t>
            </a:r>
            <a:r>
              <a:rPr lang="en-US" altLang="ko-KR" sz="500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sz="500" dirty="0">
                <a:solidFill>
                  <a:srgbClr val="FF0000"/>
                </a:solidFill>
              </a:rPr>
              <a:t>Login </a:t>
            </a:r>
            <a:r>
              <a:rPr lang="ko-KR" altLang="en-US" sz="500" dirty="0">
                <a:solidFill>
                  <a:srgbClr val="FF0000"/>
                </a:solidFill>
              </a:rPr>
              <a:t>기능을 만들어서</a:t>
            </a:r>
            <a:r>
              <a:rPr lang="en-US" altLang="ko-KR" sz="5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672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CA92-4107-D002-A4F9-3DD5E559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00673-BB3B-F23C-9436-DEAB216C2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Docter interface</a:t>
            </a:r>
          </a:p>
          <a:p>
            <a:pPr lvl="1"/>
            <a:r>
              <a:rPr lang="en-US" dirty="0"/>
              <a:t>Fetch information on class, score, sentence from the DB</a:t>
            </a:r>
          </a:p>
          <a:p>
            <a:pPr lvl="1"/>
            <a:r>
              <a:rPr lang="en-US" dirty="0"/>
              <a:t>Call AI rewriting to update the sentence</a:t>
            </a:r>
          </a:p>
          <a:p>
            <a:r>
              <a:rPr lang="en-US" dirty="0"/>
              <a:t>Patient interface</a:t>
            </a:r>
          </a:p>
          <a:p>
            <a:pPr lvl="1"/>
            <a:r>
              <a:rPr lang="en-US" dirty="0"/>
              <a:t>Fetch information on summary</a:t>
            </a:r>
          </a:p>
          <a:p>
            <a:pPr lvl="1"/>
            <a:r>
              <a:rPr lang="en-US" dirty="0"/>
              <a:t>Save patients’ responses to questions from Ella to the DB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70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D261-3EF5-B8F0-6DAD-AAEC450E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for Docter interface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213DBB-2B7E-7005-0647-345185AA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30767"/>
              </p:ext>
            </p:extLst>
          </p:nvPr>
        </p:nvGraphicFramePr>
        <p:xfrm>
          <a:off x="803018" y="5594082"/>
          <a:ext cx="168571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830">
                  <a:extLst>
                    <a:ext uri="{9D8B030D-6E8A-4147-A177-3AD203B41FA5}">
                      <a16:colId xmlns:a16="http://schemas.microsoft.com/office/drawing/2014/main" val="4117358804"/>
                    </a:ext>
                  </a:extLst>
                </a:gridCol>
                <a:gridCol w="1212170">
                  <a:extLst>
                    <a:ext uri="{9D8B030D-6E8A-4147-A177-3AD203B41FA5}">
                      <a16:colId xmlns:a16="http://schemas.microsoft.com/office/drawing/2014/main" val="623027405"/>
                    </a:ext>
                  </a:extLst>
                </a:gridCol>
                <a:gridCol w="1255587">
                  <a:extLst>
                    <a:ext uri="{9D8B030D-6E8A-4147-A177-3AD203B41FA5}">
                      <a16:colId xmlns:a16="http://schemas.microsoft.com/office/drawing/2014/main" val="1816982407"/>
                    </a:ext>
                  </a:extLst>
                </a:gridCol>
                <a:gridCol w="1685413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3454844737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2152146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4171614698"/>
                    </a:ext>
                  </a:extLst>
                </a:gridCol>
                <a:gridCol w="1470499">
                  <a:extLst>
                    <a:ext uri="{9D8B030D-6E8A-4147-A177-3AD203B41FA5}">
                      <a16:colId xmlns:a16="http://schemas.microsoft.com/office/drawing/2014/main" val="1082623546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Identifier</a:t>
                      </a:r>
                    </a:p>
                    <a:p>
                      <a:r>
                        <a:rPr lang="en-US" dirty="0"/>
                        <a:t>(file,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 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DocterID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생략가능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original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revised</a:t>
                      </a:r>
                      <a:r>
                        <a:rPr lang="en-US" dirty="0"/>
                        <a:t>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0CD5B6-F544-BFE3-0241-1A6804372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91559"/>
              </p:ext>
            </p:extLst>
          </p:nvPr>
        </p:nvGraphicFramePr>
        <p:xfrm>
          <a:off x="803018" y="2332975"/>
          <a:ext cx="1267632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743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988089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952132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366721">
                  <a:extLst>
                    <a:ext uri="{9D8B030D-6E8A-4147-A177-3AD203B41FA5}">
                      <a16:colId xmlns:a16="http://schemas.microsoft.com/office/drawing/2014/main" val="801557092"/>
                    </a:ext>
                  </a:extLst>
                </a:gridCol>
                <a:gridCol w="1294505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834820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917831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40743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  <a:gridCol w="1440743">
                  <a:extLst>
                    <a:ext uri="{9D8B030D-6E8A-4147-A177-3AD203B41FA5}">
                      <a16:colId xmlns:a16="http://schemas.microsoft.com/office/drawing/2014/main" val="3665176246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Identifier</a:t>
                      </a:r>
                    </a:p>
                    <a:p>
                      <a:r>
                        <a:rPr lang="en-US" dirty="0"/>
                        <a:t>(file,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 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DocterID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2F41B7-0F7D-4CF5-702E-84A7630E0832}"/>
              </a:ext>
            </a:extLst>
          </p:cNvPr>
          <p:cNvSpPr txBox="1"/>
          <p:nvPr/>
        </p:nvSpPr>
        <p:spPr>
          <a:xfrm>
            <a:off x="803018" y="1633250"/>
            <a:ext cx="8722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interfac</a:t>
            </a:r>
            <a:r>
              <a:rPr lang="en-US" altLang="ko-KR" dirty="0"/>
              <a:t>e </a:t>
            </a:r>
            <a:r>
              <a:rPr lang="en-US" dirty="0" err="1"/>
              <a:t>에서</a:t>
            </a:r>
            <a:r>
              <a:rPr lang="en-US" dirty="0"/>
              <a:t>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정보들을</a:t>
            </a:r>
            <a:r>
              <a:rPr 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하여 </a:t>
            </a:r>
            <a:r>
              <a:rPr lang="en-US" altLang="ko-KR" dirty="0"/>
              <a:t>render</a:t>
            </a:r>
            <a:r>
              <a:rPr lang="ko-KR" altLang="en-US" dirty="0"/>
              <a:t>하게 하려함</a:t>
            </a:r>
            <a:r>
              <a:rPr lang="en-US" altLang="ko-KR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docter_interfac</a:t>
            </a:r>
            <a:r>
              <a:rPr lang="en-US" altLang="ko-KR" dirty="0" err="1"/>
              <a:t>e_render.csv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0BBAA-523E-0A41-E3A8-1EBCC591A16F}"/>
              </a:ext>
            </a:extLst>
          </p:cNvPr>
          <p:cNvSpPr txBox="1"/>
          <p:nvPr/>
        </p:nvSpPr>
        <p:spPr>
          <a:xfrm>
            <a:off x="803018" y="4855418"/>
            <a:ext cx="14510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</a:t>
            </a:r>
            <a:r>
              <a:rPr lang="en-US" dirty="0" err="1"/>
              <a:t>inferfacer</a:t>
            </a:r>
            <a:r>
              <a:rPr lang="en-US" dirty="0"/>
              <a:t> </a:t>
            </a:r>
            <a:r>
              <a:rPr lang="en-US" dirty="0" err="1"/>
              <a:t>에서</a:t>
            </a:r>
            <a:r>
              <a:rPr lang="en-US" dirty="0"/>
              <a:t> AI rewriting </a:t>
            </a:r>
            <a:r>
              <a:rPr lang="en-US" dirty="0" err="1"/>
              <a:t>수행하여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문장</a:t>
            </a:r>
            <a:r>
              <a:rPr lang="en-US" dirty="0"/>
              <a:t> </a:t>
            </a:r>
            <a:r>
              <a:rPr lang="en-US" dirty="0" err="1"/>
              <a:t>변경시에</a:t>
            </a:r>
            <a:r>
              <a:rPr lang="en-US" dirty="0"/>
              <a:t> </a:t>
            </a:r>
            <a:r>
              <a:rPr lang="en-US" dirty="0" err="1"/>
              <a:t>기존</a:t>
            </a:r>
            <a:r>
              <a:rPr lang="en-US" dirty="0"/>
              <a:t> </a:t>
            </a:r>
            <a:r>
              <a:rPr lang="en-US" dirty="0" err="1"/>
              <a:t>문장에서</a:t>
            </a:r>
            <a:r>
              <a:rPr lang="en-US" dirty="0"/>
              <a:t> </a:t>
            </a:r>
            <a:r>
              <a:rPr lang="en-US" dirty="0" err="1"/>
              <a:t>어떻게</a:t>
            </a:r>
            <a:r>
              <a:rPr lang="en-US" dirty="0"/>
              <a:t> </a:t>
            </a:r>
            <a:r>
              <a:rPr lang="en-US" dirty="0" err="1"/>
              <a:t>변경되었고</a:t>
            </a:r>
            <a:r>
              <a:rPr lang="en-US" dirty="0"/>
              <a:t> </a:t>
            </a:r>
            <a:r>
              <a:rPr lang="en-US" dirty="0" err="1"/>
              <a:t>score는</a:t>
            </a:r>
            <a:r>
              <a:rPr lang="en-US" dirty="0"/>
              <a:t> </a:t>
            </a:r>
            <a:r>
              <a:rPr lang="en-US" dirty="0" err="1"/>
              <a:t>무엇이고</a:t>
            </a:r>
            <a:r>
              <a:rPr lang="en-US" dirty="0"/>
              <a:t> </a:t>
            </a:r>
            <a:r>
              <a:rPr lang="en-US" dirty="0" err="1"/>
              <a:t>저장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docter_interfac</a:t>
            </a:r>
            <a:r>
              <a:rPr lang="en-US" altLang="ko-KR" dirty="0" err="1"/>
              <a:t>e_ai_rewriting_history.csv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4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D36A8-3844-D154-E1A9-54A8B68A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AA07-B3A3-9139-825E-89AB6A177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8FA79-22F0-6C1F-41BF-C019CFFE7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85692"/>
              </p:ext>
            </p:extLst>
          </p:nvPr>
        </p:nvGraphicFramePr>
        <p:xfrm>
          <a:off x="838201" y="3177939"/>
          <a:ext cx="10515601" cy="1943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163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819666">
                  <a:extLst>
                    <a:ext uri="{9D8B030D-6E8A-4147-A177-3AD203B41FA5}">
                      <a16:colId xmlns:a16="http://schemas.microsoft.com/office/drawing/2014/main" val="3383602743"/>
                    </a:ext>
                  </a:extLst>
                </a:gridCol>
                <a:gridCol w="789838">
                  <a:extLst>
                    <a:ext uri="{9D8B030D-6E8A-4147-A177-3AD203B41FA5}">
                      <a16:colId xmlns:a16="http://schemas.microsoft.com/office/drawing/2014/main" val="160939054"/>
                    </a:ext>
                  </a:extLst>
                </a:gridCol>
                <a:gridCol w="1133758">
                  <a:extLst>
                    <a:ext uri="{9D8B030D-6E8A-4147-A177-3AD203B41FA5}">
                      <a16:colId xmlns:a16="http://schemas.microsoft.com/office/drawing/2014/main" val="801557092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52206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590930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195163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  <a:gridCol w="1195163">
                  <a:extLst>
                    <a:ext uri="{9D8B030D-6E8A-4147-A177-3AD203B41FA5}">
                      <a16:colId xmlns:a16="http://schemas.microsoft.com/office/drawing/2014/main" val="3665176246"/>
                    </a:ext>
                  </a:extLst>
                </a:gridCol>
              </a:tblGrid>
              <a:tr h="944063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Identifier</a:t>
                      </a:r>
                    </a:p>
                    <a:p>
                      <a:r>
                        <a:rPr lang="en-US" dirty="0"/>
                        <a:t>(file,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, i2)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/</a:t>
                      </a:r>
                      <a:r>
                        <a:rPr lang="en-US" altLang="ko-KR" dirty="0" err="1"/>
                        <a:t>DocterID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77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77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18584B-485E-EEE5-E50F-6D7EC269837C}"/>
              </a:ext>
            </a:extLst>
          </p:cNvPr>
          <p:cNvSpPr txBox="1"/>
          <p:nvPr/>
        </p:nvSpPr>
        <p:spPr>
          <a:xfrm>
            <a:off x="838198" y="2178617"/>
            <a:ext cx="8722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</a:t>
            </a:r>
            <a:r>
              <a:rPr lang="en-US" dirty="0" err="1"/>
              <a:t>docter</a:t>
            </a:r>
            <a:r>
              <a:rPr lang="en-US" dirty="0"/>
              <a:t> interfac</a:t>
            </a:r>
            <a:r>
              <a:rPr lang="en-US" altLang="ko-KR" dirty="0"/>
              <a:t>e </a:t>
            </a:r>
            <a:r>
              <a:rPr lang="en-US" dirty="0" err="1"/>
              <a:t>에서</a:t>
            </a:r>
            <a:r>
              <a:rPr lang="en-US" dirty="0"/>
              <a:t>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정보들을</a:t>
            </a:r>
            <a:r>
              <a:rPr 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하여 </a:t>
            </a:r>
            <a:r>
              <a:rPr lang="en-US" altLang="ko-KR" dirty="0"/>
              <a:t>render</a:t>
            </a:r>
            <a:r>
              <a:rPr lang="ko-KR" altLang="en-US" dirty="0"/>
              <a:t>하게 하려함</a:t>
            </a:r>
            <a:r>
              <a:rPr lang="en-US" altLang="ko-KR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docter_interfac</a:t>
            </a:r>
            <a:r>
              <a:rPr lang="en-US" altLang="ko-KR" dirty="0" err="1"/>
              <a:t>e_render.csv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3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419E-CF0A-8193-79C3-76F53201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for Patient interface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78548B-18E1-C2A5-73E4-7B3D81DD6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00980"/>
              </p:ext>
            </p:extLst>
          </p:nvPr>
        </p:nvGraphicFramePr>
        <p:xfrm>
          <a:off x="838200" y="2080182"/>
          <a:ext cx="168082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944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3586979269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607921604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245755768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2492791030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2870868160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4282029442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3785157089"/>
                    </a:ext>
                  </a:extLst>
                </a:gridCol>
                <a:gridCol w="1292944">
                  <a:extLst>
                    <a:ext uri="{9D8B030D-6E8A-4147-A177-3AD203B41FA5}">
                      <a16:colId xmlns:a16="http://schemas.microsoft.com/office/drawing/2014/main" val="3173466767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Entire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Summary_class_1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Summary_class_2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Summary_class_3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Summary_class_4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Summary_class_5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1DF558-301B-C98A-06D0-6EAA94783AC5}"/>
              </a:ext>
            </a:extLst>
          </p:cNvPr>
          <p:cNvSpPr txBox="1"/>
          <p:nvPr/>
        </p:nvSpPr>
        <p:spPr>
          <a:xfrm>
            <a:off x="803021" y="1400630"/>
            <a:ext cx="8417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interface를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summary가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  <a:p>
            <a:r>
              <a:rPr lang="en-US" altLang="ko-KR" dirty="0" err="1"/>
              <a:t>Patient_interface_class_summary.csv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402423-BBC8-C701-824E-A7DFE628A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91791"/>
              </p:ext>
            </p:extLst>
          </p:nvPr>
        </p:nvGraphicFramePr>
        <p:xfrm>
          <a:off x="838200" y="5457370"/>
          <a:ext cx="975588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9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2672730302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3499168523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822873324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2864121436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Class_1_Patient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Class_2_Patient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Class_3_Patient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Class_4_Patient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Class_5_Patient scoring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2AFC3FE-A842-B4F6-EA63-80B921992182}"/>
              </a:ext>
            </a:extLst>
          </p:cNvPr>
          <p:cNvSpPr txBox="1"/>
          <p:nvPr/>
        </p:nvSpPr>
        <p:spPr>
          <a:xfrm>
            <a:off x="803021" y="4811040"/>
            <a:ext cx="11353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interfac에서</a:t>
            </a:r>
            <a:r>
              <a:rPr lang="en-US" dirty="0"/>
              <a:t>  </a:t>
            </a:r>
            <a:r>
              <a:rPr lang="en-US" dirty="0" err="1"/>
              <a:t>patien가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Patent scoring of the </a:t>
            </a:r>
            <a:r>
              <a:rPr lang="en-US" dirty="0" err="1"/>
              <a:t>summary를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  <a:p>
            <a:r>
              <a:rPr lang="en-US" altLang="ko-KR" dirty="0" err="1"/>
              <a:t>Patient_interface_class_summary_scoring.csv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A5082B-8CB7-4790-D6F3-C3FA35697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350405"/>
              </p:ext>
            </p:extLst>
          </p:nvPr>
        </p:nvGraphicFramePr>
        <p:xfrm>
          <a:off x="873379" y="8610944"/>
          <a:ext cx="704464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</a:p>
                    <a:p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4D431E-AC8B-40A9-D7CC-FEB746235CF0}"/>
              </a:ext>
            </a:extLst>
          </p:cNvPr>
          <p:cNvSpPr txBox="1"/>
          <p:nvPr/>
        </p:nvSpPr>
        <p:spPr>
          <a:xfrm>
            <a:off x="820610" y="7852118"/>
            <a:ext cx="10550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patients’ responses to questions from Ella </a:t>
            </a:r>
            <a:r>
              <a:rPr lang="en-US" dirty="0" err="1"/>
              <a:t>를</a:t>
            </a:r>
            <a:r>
              <a:rPr lang="en-US" dirty="0"/>
              <a:t> </a:t>
            </a:r>
            <a:r>
              <a:rPr lang="en-US" dirty="0" err="1"/>
              <a:t>각각</a:t>
            </a:r>
            <a:r>
              <a:rPr lang="en-US" dirty="0"/>
              <a:t> </a:t>
            </a:r>
            <a:r>
              <a:rPr lang="en-US" dirty="0" err="1"/>
              <a:t>저장하는</a:t>
            </a:r>
            <a:r>
              <a:rPr lang="en-US" dirty="0"/>
              <a:t> </a:t>
            </a:r>
            <a:r>
              <a:rPr lang="en-US" dirty="0" err="1"/>
              <a:t>공간</a:t>
            </a:r>
            <a:endParaRPr lang="en-US" dirty="0"/>
          </a:p>
          <a:p>
            <a:r>
              <a:rPr lang="en-US" dirty="0" err="1"/>
              <a:t>Patient_inferace_questions_responses.csv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18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C612-5990-A684-3E0C-05AD65AE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440B-DC57-31D3-A284-E68991E3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en-US" dirty="0" err="1"/>
              <a:t>용도는</a:t>
            </a:r>
            <a:r>
              <a:rPr lang="en-US" dirty="0"/>
              <a:t> Patient </a:t>
            </a:r>
            <a:r>
              <a:rPr lang="en-US" dirty="0" err="1"/>
              <a:t>interface를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 </a:t>
            </a:r>
            <a:r>
              <a:rPr lang="en-US" dirty="0" err="1"/>
              <a:t>각</a:t>
            </a:r>
            <a:r>
              <a:rPr lang="en-US" dirty="0"/>
              <a:t> </a:t>
            </a:r>
            <a:r>
              <a:rPr lang="en-US" dirty="0" err="1"/>
              <a:t>class에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summary가</a:t>
            </a:r>
            <a:r>
              <a:rPr lang="en-US" dirty="0"/>
              <a:t> </a:t>
            </a:r>
            <a:r>
              <a:rPr lang="en-US" dirty="0" err="1"/>
              <a:t>저장된</a:t>
            </a:r>
            <a:r>
              <a:rPr lang="en-US" dirty="0"/>
              <a:t> </a:t>
            </a:r>
            <a:r>
              <a:rPr lang="en-US" dirty="0" err="1"/>
              <a:t>공간</a:t>
            </a:r>
            <a:r>
              <a:rPr lang="en-US" dirty="0"/>
              <a:t> </a:t>
            </a:r>
            <a:r>
              <a:rPr lang="en-US" altLang="ko-KR" dirty="0" err="1"/>
              <a:t>Patient_interface_class_summary.csv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일단</a:t>
            </a:r>
            <a:r>
              <a:rPr lang="en-US" dirty="0">
                <a:solidFill>
                  <a:srgbClr val="FF0000"/>
                </a:solidFill>
              </a:rPr>
              <a:t> key </a:t>
            </a:r>
            <a:r>
              <a:rPr lang="en-US" dirty="0" err="1">
                <a:solidFill>
                  <a:srgbClr val="FF0000"/>
                </a:solidFill>
              </a:rPr>
              <a:t>statements는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빠짐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24654-FAE9-4047-94DE-97636134B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437" y="4629222"/>
            <a:ext cx="4927286" cy="184549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03F5E8-8AD5-ED98-6510-C93594006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549093"/>
              </p:ext>
            </p:extLst>
          </p:nvPr>
        </p:nvGraphicFramePr>
        <p:xfrm>
          <a:off x="217712" y="3216527"/>
          <a:ext cx="11756576" cy="1412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52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3586979269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607921604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245755768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2492791030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2870868160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4282029442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3785157089"/>
                    </a:ext>
                  </a:extLst>
                </a:gridCol>
                <a:gridCol w="904352">
                  <a:extLst>
                    <a:ext uri="{9D8B030D-6E8A-4147-A177-3AD203B41FA5}">
                      <a16:colId xmlns:a16="http://schemas.microsoft.com/office/drawing/2014/main" val="3173466767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file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Speaker (</a:t>
                      </a:r>
                      <a:r>
                        <a:rPr lang="en-US" altLang="ko-KR" sz="1200" dirty="0" err="1"/>
                        <a:t>PatientID</a:t>
                      </a:r>
                      <a:r>
                        <a:rPr lang="en-US" altLang="ko-KR" sz="1200" dirty="0"/>
                        <a:t>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Entire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Class_1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Summary_class_1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Class_2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Summary_class_2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Summary_class_3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Class_4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Summary_class_4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Class_5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Summary_class_5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0CDD54D-EC2C-A2B8-7724-0C4DB851F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20" y="4484279"/>
            <a:ext cx="2285421" cy="47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21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2409-4E5D-D0C2-7455-825D4520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F6D11-BA5D-196E-ABF8-572FF387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테이블 용도는 </a:t>
            </a:r>
            <a:r>
              <a:rPr lang="en-US" dirty="0"/>
              <a:t>Patient </a:t>
            </a:r>
            <a:r>
              <a:rPr lang="en-US" dirty="0" err="1"/>
              <a:t>interfac</a:t>
            </a:r>
            <a:r>
              <a:rPr lang="ko-KR" altLang="en-US" dirty="0"/>
              <a:t>에서  </a:t>
            </a:r>
            <a:r>
              <a:rPr lang="en-US" dirty="0" err="1"/>
              <a:t>patien</a:t>
            </a:r>
            <a:r>
              <a:rPr lang="ko-KR" altLang="en-US" dirty="0"/>
              <a:t>가  각 </a:t>
            </a:r>
            <a:r>
              <a:rPr lang="en-US" dirty="0"/>
              <a:t>class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dirty="0"/>
              <a:t>Patent scoring of the summary</a:t>
            </a:r>
            <a:r>
              <a:rPr lang="ko-KR" altLang="en-US" dirty="0" err="1"/>
              <a:t>를</a:t>
            </a:r>
            <a:r>
              <a:rPr lang="ko-KR" altLang="en-US" dirty="0"/>
              <a:t> 저장된 공간 </a:t>
            </a:r>
            <a:r>
              <a:rPr lang="en-US" dirty="0" err="1"/>
              <a:t>Patient_interface_class_summary_scoring.csv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BE9211-6BA8-FE0B-A918-6ADC8163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53214"/>
              </p:ext>
            </p:extLst>
          </p:nvPr>
        </p:nvGraphicFramePr>
        <p:xfrm>
          <a:off x="1087581" y="3222148"/>
          <a:ext cx="975588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9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2672730302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3499168523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822873324"/>
                    </a:ext>
                  </a:extLst>
                </a:gridCol>
                <a:gridCol w="1393698">
                  <a:extLst>
                    <a:ext uri="{9D8B030D-6E8A-4147-A177-3AD203B41FA5}">
                      <a16:colId xmlns:a16="http://schemas.microsoft.com/office/drawing/2014/main" val="2864121436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 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Class_1_Patient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Class_2_Patient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Class_3_Patient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Class_4_Patient scoring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Class_5_Patient scoring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F335B36-69F8-7E25-FE38-7C96888FB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24" y="4885772"/>
            <a:ext cx="4927286" cy="18454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6235F0-9B15-B2D2-91C0-E17D8772BCA4}"/>
              </a:ext>
            </a:extLst>
          </p:cNvPr>
          <p:cNvSpPr/>
          <p:nvPr/>
        </p:nvSpPr>
        <p:spPr>
          <a:xfrm>
            <a:off x="8332710" y="5377043"/>
            <a:ext cx="852054" cy="31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305120-600E-E232-93A1-A5B221776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43797"/>
            <a:ext cx="31242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0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11CC-4F10-4028-2233-7374349E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7657-5BB7-8492-5646-48B5FF93A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테이블 용도는 </a:t>
            </a:r>
            <a:r>
              <a:rPr lang="en-US" dirty="0"/>
              <a:t>patients’ responses to questions from Ella </a:t>
            </a:r>
            <a:r>
              <a:rPr lang="ko-KR" altLang="en-US" dirty="0" err="1"/>
              <a:t>를</a:t>
            </a:r>
            <a:r>
              <a:rPr lang="ko-KR" altLang="en-US" dirty="0"/>
              <a:t> 각각 저장하는 공간 </a:t>
            </a:r>
            <a:r>
              <a:rPr lang="en-US" dirty="0" err="1"/>
              <a:t>Patient_inferace_questions_responses.csv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78D9AC-1134-142B-4F7B-C72573828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132649"/>
              </p:ext>
            </p:extLst>
          </p:nvPr>
        </p:nvGraphicFramePr>
        <p:xfrm>
          <a:off x="2573680" y="2860775"/>
          <a:ext cx="7044640" cy="1516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928">
                  <a:extLst>
                    <a:ext uri="{9D8B030D-6E8A-4147-A177-3AD203B41FA5}">
                      <a16:colId xmlns:a16="http://schemas.microsoft.com/office/drawing/2014/main" val="2018819125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1055995458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313797991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4190089373"/>
                    </a:ext>
                  </a:extLst>
                </a:gridCol>
                <a:gridCol w="1408928">
                  <a:extLst>
                    <a:ext uri="{9D8B030D-6E8A-4147-A177-3AD203B41FA5}">
                      <a16:colId xmlns:a16="http://schemas.microsoft.com/office/drawing/2014/main" val="3686348513"/>
                    </a:ext>
                  </a:extLst>
                </a:gridCol>
              </a:tblGrid>
              <a:tr h="784831">
                <a:tc>
                  <a:txBody>
                    <a:bodyPr/>
                    <a:lstStyle/>
                    <a:p>
                      <a:r>
                        <a:rPr lang="en-US" altLang="ko-KR" dirty="0"/>
                        <a:t>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Speaker</a:t>
                      </a:r>
                    </a:p>
                    <a:p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PatientID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3137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319216"/>
                  </a:ext>
                </a:extLst>
              </a:tr>
              <a:tr h="3139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9374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FE95A5F-ACFE-D7F5-7A48-85A74C5E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775" y="4377126"/>
            <a:ext cx="23876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7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B2E6-D5CF-8E51-BBDD-EE1FBB41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AAC8-D892-C513-F5C3-275B0763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BE305-0438-7D84-4F1D-5549112E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566" y="0"/>
            <a:ext cx="6414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49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B6D1-CEE2-0191-D211-4066C790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Information Security and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32350-CC81-28C7-F549-F294B319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chatgpt.com</a:t>
            </a:r>
            <a:r>
              <a:rPr lang="en-US" dirty="0"/>
              <a:t>/c/690b9a0e-d870-832d-a5c9-eed8bab65536</a:t>
            </a:r>
          </a:p>
        </p:txBody>
      </p:sp>
    </p:spTree>
    <p:extLst>
      <p:ext uri="{BB962C8B-B14F-4D97-AF65-F5344CB8AC3E}">
        <p14:creationId xmlns:p14="http://schemas.microsoft.com/office/powerpoint/2010/main" val="3729799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20742</TotalTime>
  <Words>1351</Words>
  <Application>Microsoft Macintosh PowerPoint</Application>
  <PresentationFormat>Widescreen</PresentationFormat>
  <Paragraphs>293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Calibri</vt:lpstr>
      <vt:lpstr>Office Theme</vt:lpstr>
      <vt:lpstr>System integration agenda</vt:lpstr>
      <vt:lpstr>PowerPoint Presentation</vt:lpstr>
      <vt:lpstr>System integration (이대로 완전 작동이 가능한 시스템을 개인 server에 deployment하기)</vt:lpstr>
      <vt:lpstr>PowerPoint Presentation</vt:lpstr>
      <vt:lpstr>Tables for Docter interface</vt:lpstr>
      <vt:lpstr>PowerPoint Presentation</vt:lpstr>
      <vt:lpstr>Tables for Patient interface</vt:lpstr>
      <vt:lpstr>PowerPoint Presentation</vt:lpstr>
      <vt:lpstr>PowerPoint Presentation</vt:lpstr>
      <vt:lpstr>PowerPoint Presentation</vt:lpstr>
      <vt:lpstr>PowerPoint Presentation</vt:lpstr>
      <vt:lpstr>Health Information Security and Privacy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Dongfang</dc:creator>
  <cp:lastModifiedBy>Choi, Hyunjun</cp:lastModifiedBy>
  <cp:revision>212</cp:revision>
  <dcterms:created xsi:type="dcterms:W3CDTF">2025-10-30T18:43:33Z</dcterms:created>
  <dcterms:modified xsi:type="dcterms:W3CDTF">2025-11-15T01:11:06Z</dcterms:modified>
</cp:coreProperties>
</file>